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7" r:id="rId4"/>
  </p:sldMasterIdLst>
  <p:notesMasterIdLst>
    <p:notesMasterId r:id="rId31"/>
  </p:notesMasterIdLst>
  <p:sldIdLst>
    <p:sldId id="341" r:id="rId5"/>
    <p:sldId id="346" r:id="rId6"/>
    <p:sldId id="319" r:id="rId7"/>
    <p:sldId id="309" r:id="rId8"/>
    <p:sldId id="322" r:id="rId9"/>
    <p:sldId id="323" r:id="rId10"/>
    <p:sldId id="307" r:id="rId11"/>
    <p:sldId id="306" r:id="rId12"/>
    <p:sldId id="342" r:id="rId13"/>
    <p:sldId id="318" r:id="rId14"/>
    <p:sldId id="344" r:id="rId15"/>
    <p:sldId id="326" r:id="rId16"/>
    <p:sldId id="295" r:id="rId17"/>
    <p:sldId id="335" r:id="rId18"/>
    <p:sldId id="337" r:id="rId19"/>
    <p:sldId id="336" r:id="rId20"/>
    <p:sldId id="330" r:id="rId21"/>
    <p:sldId id="316" r:id="rId22"/>
    <p:sldId id="338" r:id="rId23"/>
    <p:sldId id="340" r:id="rId24"/>
    <p:sldId id="345" r:id="rId25"/>
    <p:sldId id="310" r:id="rId26"/>
    <p:sldId id="332" r:id="rId27"/>
    <p:sldId id="333" r:id="rId28"/>
    <p:sldId id="305" r:id="rId29"/>
    <p:sldId id="283" r:id="rId30"/>
  </p:sldIdLst>
  <p:sldSz cx="9144000" cy="5143500" type="screen16x9"/>
  <p:notesSz cx="7010400" cy="9296400"/>
  <p:embeddedFontLst>
    <p:embeddedFont>
      <p:font typeface="Lexend" panose="020B0604020202020204" charset="0"/>
      <p:regular r:id="rId32"/>
      <p:bold r:id="rId33"/>
    </p:embeddedFont>
    <p:embeddedFont>
      <p:font typeface="Lexend Light" panose="020B0604020202020204" charset="0"/>
      <p:regular r:id="rId34"/>
      <p:bold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01" autoAdjust="0"/>
  </p:normalViewPr>
  <p:slideViewPr>
    <p:cSldViewPr snapToGrid="0">
      <p:cViewPr varScale="1">
        <p:scale>
          <a:sx n="85" d="100"/>
          <a:sy n="85" d="100"/>
        </p:scale>
        <p:origin x="768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font" Target="fonts/font3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2.fntdata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1.fntdata"/><Relationship Id="rId37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4.fntdata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>
          <a:extLst>
            <a:ext uri="{FF2B5EF4-FFF2-40B4-BE49-F238E27FC236}">
              <a16:creationId xmlns:a16="http://schemas.microsoft.com/office/drawing/2014/main" id="{03C17D26-45DD-2663-56DC-5D651F875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:notes">
            <a:extLst>
              <a:ext uri="{FF2B5EF4-FFF2-40B4-BE49-F238E27FC236}">
                <a16:creationId xmlns:a16="http://schemas.microsoft.com/office/drawing/2014/main" id="{A9D5AB67-3E0D-D67A-7846-62CBC5C754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4" name="Google Shape;214;p1:notes">
            <a:extLst>
              <a:ext uri="{FF2B5EF4-FFF2-40B4-BE49-F238E27FC236}">
                <a16:creationId xmlns:a16="http://schemas.microsoft.com/office/drawing/2014/main" id="{57394313-C353-2F07-4D1D-B567E3A75E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t" anchorCtr="0">
            <a:noAutofit/>
          </a:bodyPr>
          <a:lstStyle/>
          <a:p>
            <a:r>
              <a:rPr lang="en-US"/>
              <a:t>\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355619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DF8A0-9C35-E807-0FC0-5E47AC016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7DAD80-D4CA-93E8-FE1B-4FE182A5A8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225C9D-AABA-BE15-D75F-6787467C0B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26992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B9ED7-94BF-ACAA-895A-28BC46247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F10702-88C0-5812-D418-B5DB2AD8D3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918680-0D03-FF0D-F43A-7136F89A81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1018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0899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6D556-3580-5778-B030-B32B98473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91FA2E-68DB-36B3-2ADA-15689953B2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99301A-C3B1-2337-F56E-3E26D71AC5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1157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21746-6054-FF3E-63E8-10133DA45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164FF0-158A-A7CB-BD10-C18793C89B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7F94B5-5820-E92A-DA46-3693BC6F47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6305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2348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32092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0B8B7-C81A-3A4F-CF03-11B84BC47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69CC07-830E-76D4-B01D-15C61BAAB1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B7E732-3054-3E43-677B-F52D4AEC54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50054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56301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90B03-51F7-A2EA-2DD0-14FE0BE8A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6824C4-5ACC-1004-AC2C-999A2583D9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C8BBAE-C517-6C05-2147-44A6D005B7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51840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E0078-F309-0053-B191-56F45581D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FB0F33-6C8D-F6DF-8BF4-260CBED31F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0C18CA-0347-3433-808A-3F0C0C29CA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91461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34839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10949-B3E6-6622-2C61-4A949377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A4FF59-50D7-5FA0-4FE1-72A73713F7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4C7AEC-63CF-B921-DE71-3DF4361315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94369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F072A-EFCC-8072-6BEC-1599DC35C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EBC7F3-8443-8D8D-2F47-566904FDDC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5B3A0D-19AA-3120-1CBB-14173F8438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1884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FCBCC-1D75-1013-401B-6F20D0F03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EA72A-CBD2-CE98-93B1-78C499201D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9F654B-D43A-46A0-E3E6-057F0B8361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0339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E2C50-BB6E-31C5-3265-1C8F19407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E71DA0-76C0-031D-0CC1-43E4F893E9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114419-D9CB-27EA-8877-C31E269E6A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12591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9371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CFE04-B058-1398-0A0B-82AEC4A6F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DD2353-B8F4-69A9-4C54-D53361F378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9F906B-9189-E214-C28C-9EEB4467D9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3389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55397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59DD0-FF90-559F-9768-1B9C3BBF9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2D494A-28D7-5AFA-712C-5C61F9D48D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8FAD3C-3970-2374-F92D-CAEB39F461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3935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F7A98-3434-21BE-3C10-FCFBD3D86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E94842-D5CE-6FFA-2C31-A8656841EA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2E2FBD-FF71-116B-2DCD-08B2E4F474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79574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Slide" type="title" preserve="1">
  <p:cSld name="6_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>
            <a:spLocks noGrp="1"/>
          </p:cNvSpPr>
          <p:nvPr>
            <p:ph type="title"/>
          </p:nvPr>
        </p:nvSpPr>
        <p:spPr>
          <a:xfrm>
            <a:off x="1136194" y="2318983"/>
            <a:ext cx="5654751" cy="552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body" idx="1"/>
          </p:nvPr>
        </p:nvSpPr>
        <p:spPr>
          <a:xfrm>
            <a:off x="1136194" y="2894945"/>
            <a:ext cx="5654751" cy="1314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A4F55"/>
              </a:buClr>
              <a:buSzPts val="1700"/>
              <a:buFont typeface="Arial"/>
              <a:buNone/>
              <a:defRPr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A4F55"/>
              </a:buClr>
              <a:buSzPts val="1700"/>
              <a:buFont typeface="Arial"/>
              <a:buNone/>
              <a:defRPr>
                <a:solidFill>
                  <a:srgbClr val="4A4F55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A4F55"/>
              </a:buClr>
              <a:buSzPts val="1700"/>
              <a:buFont typeface="Arial"/>
              <a:buNone/>
              <a:defRPr>
                <a:solidFill>
                  <a:srgbClr val="4A4F55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A4F55"/>
              </a:buClr>
              <a:buSzPts val="1700"/>
              <a:buFont typeface="Arial"/>
              <a:buNone/>
              <a:defRPr>
                <a:solidFill>
                  <a:srgbClr val="4A4F55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A4F55"/>
              </a:buClr>
              <a:buSzPts val="1700"/>
              <a:buFont typeface="Arial"/>
              <a:buNone/>
              <a:defRPr>
                <a:solidFill>
                  <a:srgbClr val="4A4F55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923997" y="4903621"/>
            <a:ext cx="220003" cy="20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" name="Google Shape;21;p2" descr="Picture 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1262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2" descr="Picture 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96677" y="934104"/>
            <a:ext cx="6928451" cy="5385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23412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Title Slide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3" descr="Picture 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509" y="4720046"/>
            <a:ext cx="320287" cy="340981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3"/>
          <p:cNvSpPr txBox="1"/>
          <p:nvPr/>
        </p:nvSpPr>
        <p:spPr>
          <a:xfrm>
            <a:off x="402969" y="4806163"/>
            <a:ext cx="2581893" cy="165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 STATE LA </a:t>
            </a:r>
            <a:r>
              <a:rPr lang="en-US" sz="600" b="0" i="0" u="none" strike="noStrike" cap="none">
                <a:solidFill>
                  <a:srgbClr val="FCC90A"/>
                </a:solidFill>
                <a:latin typeface="Arial"/>
                <a:ea typeface="Arial"/>
                <a:cs typeface="Arial"/>
                <a:sym typeface="Arial"/>
              </a:rPr>
              <a:t> |   </a:t>
            </a:r>
            <a:r>
              <a:rPr lang="en-US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Department of Computer Science</a:t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4683759" y="0"/>
            <a:ext cx="4460241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" name="Google Shape;29;p3" descr="Picture 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76602" y="556527"/>
            <a:ext cx="4167398" cy="4586973"/>
          </a:xfrm>
          <a:prstGeom prst="rect">
            <a:avLst/>
          </a:prstGeom>
          <a:noFill/>
          <a:ln>
            <a:noFill/>
          </a:ln>
          <a:effectLst>
            <a:outerShdw rotWithShape="0">
              <a:srgbClr val="000000">
                <a:alpha val="42745"/>
              </a:srgbClr>
            </a:outerShdw>
          </a:effectLst>
        </p:spPr>
      </p:pic>
      <p:sp>
        <p:nvSpPr>
          <p:cNvPr id="30" name="Google Shape;30;p3"/>
          <p:cNvSpPr txBox="1">
            <a:spLocks noGrp="1"/>
          </p:cNvSpPr>
          <p:nvPr>
            <p:ph type="sldNum" idx="12"/>
          </p:nvPr>
        </p:nvSpPr>
        <p:spPr>
          <a:xfrm>
            <a:off x="8923997" y="4903621"/>
            <a:ext cx="220003" cy="20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body" idx="1"/>
          </p:nvPr>
        </p:nvSpPr>
        <p:spPr>
          <a:xfrm>
            <a:off x="318901" y="1224321"/>
            <a:ext cx="4009260" cy="1314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A4F55"/>
              </a:buClr>
              <a:buSzPts val="1700"/>
              <a:buFont typeface="Arial"/>
              <a:buNone/>
              <a:defRPr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A4F55"/>
              </a:buClr>
              <a:buSzPts val="1700"/>
              <a:buFont typeface="Arial"/>
              <a:buNone/>
              <a:defRPr>
                <a:solidFill>
                  <a:srgbClr val="4A4F55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A4F55"/>
              </a:buClr>
              <a:buSzPts val="1700"/>
              <a:buFont typeface="Arial"/>
              <a:buNone/>
              <a:defRPr>
                <a:solidFill>
                  <a:srgbClr val="4A4F55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A4F55"/>
              </a:buClr>
              <a:buSzPts val="1700"/>
              <a:buFont typeface="Arial"/>
              <a:buNone/>
              <a:defRPr>
                <a:solidFill>
                  <a:srgbClr val="4A4F55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A4F55"/>
              </a:buClr>
              <a:buSzPts val="1700"/>
              <a:buFont typeface="Arial"/>
              <a:buNone/>
              <a:defRPr>
                <a:solidFill>
                  <a:srgbClr val="4A4F55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2" name="Google Shape;32;p3" descr="Picture 15"/>
          <p:cNvPicPr preferRelativeResize="0"/>
          <p:nvPr/>
        </p:nvPicPr>
        <p:blipFill rotWithShape="1">
          <a:blip r:embed="rId4">
            <a:alphaModFix/>
          </a:blip>
          <a:srcRect b="6847"/>
          <a:stretch/>
        </p:blipFill>
        <p:spPr>
          <a:xfrm>
            <a:off x="7713518" y="2761"/>
            <a:ext cx="1407333" cy="1498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3" descr="Picture 18"/>
          <p:cNvPicPr preferRelativeResize="0"/>
          <p:nvPr/>
        </p:nvPicPr>
        <p:blipFill rotWithShape="1">
          <a:blip r:embed="rId5">
            <a:alphaModFix/>
          </a:blip>
          <a:srcRect b="19853"/>
          <a:stretch/>
        </p:blipFill>
        <p:spPr>
          <a:xfrm>
            <a:off x="4840585" y="2791962"/>
            <a:ext cx="818535" cy="2200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3" descr="Picture 2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06209" y="1407073"/>
            <a:ext cx="1332109" cy="87780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3"/>
          <p:cNvSpPr txBox="1">
            <a:spLocks noGrp="1"/>
          </p:cNvSpPr>
          <p:nvPr>
            <p:ph type="title"/>
          </p:nvPr>
        </p:nvSpPr>
        <p:spPr>
          <a:xfrm>
            <a:off x="228600" y="170260"/>
            <a:ext cx="8769096" cy="857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and Content">
  <p:cSld name="1_Title and Conte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4" descr="Picture 7"/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0509" y="4720046"/>
            <a:ext cx="320287" cy="340981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 userDrawn="1"/>
        </p:nvSpPr>
        <p:spPr>
          <a:xfrm>
            <a:off x="402969" y="4806163"/>
            <a:ext cx="2581893" cy="184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 STATE LA </a:t>
            </a:r>
            <a:r>
              <a:rPr lang="en-US" sz="600" b="0" i="0" u="none" strike="noStrike" cap="none" dirty="0">
                <a:solidFill>
                  <a:srgbClr val="FCC90A"/>
                </a:solidFill>
                <a:latin typeface="Arial"/>
                <a:ea typeface="Arial"/>
                <a:cs typeface="Arial"/>
                <a:sym typeface="Arial"/>
              </a:rPr>
              <a:t> |   </a:t>
            </a:r>
            <a:r>
              <a:rPr lang="en-US" sz="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Department of </a:t>
            </a:r>
            <a:r>
              <a:rPr lang="en-US" sz="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omputer</a:t>
            </a:r>
            <a:r>
              <a:rPr lang="en-US" sz="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Science</a:t>
            </a:r>
            <a:endParaRPr dirty="0"/>
          </a:p>
        </p:txBody>
      </p:sp>
      <p:sp>
        <p:nvSpPr>
          <p:cNvPr id="39" name="Google Shape;39;p4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body" idx="1"/>
          </p:nvPr>
        </p:nvSpPr>
        <p:spPr>
          <a:xfrm>
            <a:off x="536408" y="1177747"/>
            <a:ext cx="8140628" cy="3394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o"/>
              <a:defRPr/>
            </a:lvl3pPr>
            <a:lvl4pPr marL="1828800" lvl="3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41" name="Google Shape;41;p4" descr="Picture 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876602" cy="7642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" name="Google Shape;42;p4"/>
          <p:cNvGrpSpPr/>
          <p:nvPr/>
        </p:nvGrpSpPr>
        <p:grpSpPr>
          <a:xfrm>
            <a:off x="182344" y="104247"/>
            <a:ext cx="570010" cy="4473699"/>
            <a:chOff x="0" y="-1"/>
            <a:chExt cx="570007" cy="4473698"/>
          </a:xfrm>
        </p:grpSpPr>
        <p:pic>
          <p:nvPicPr>
            <p:cNvPr id="43" name="Google Shape;43;p4" descr="Picture 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0" y="-1"/>
              <a:ext cx="570007" cy="5385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" name="Google Shape;44;p4"/>
            <p:cNvSpPr/>
            <p:nvPr/>
          </p:nvSpPr>
          <p:spPr>
            <a:xfrm rot="5400000">
              <a:off x="-1984249" y="2434583"/>
              <a:ext cx="4023362" cy="54865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sldNum" idx="1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and Content" preserve="1">
  <p:cSld name="3_Title and Conte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body" idx="1"/>
          </p:nvPr>
        </p:nvSpPr>
        <p:spPr>
          <a:xfrm>
            <a:off x="536408" y="1177747"/>
            <a:ext cx="8140628" cy="3394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o"/>
              <a:defRPr/>
            </a:lvl3pPr>
            <a:lvl4pPr marL="1828800" lvl="3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41" name="Google Shape;41;p4" descr="Picture 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876602" cy="7642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" name="Google Shape;42;p4"/>
          <p:cNvGrpSpPr/>
          <p:nvPr/>
        </p:nvGrpSpPr>
        <p:grpSpPr>
          <a:xfrm>
            <a:off x="182344" y="104247"/>
            <a:ext cx="570010" cy="4473699"/>
            <a:chOff x="0" y="-1"/>
            <a:chExt cx="570007" cy="4473698"/>
          </a:xfrm>
        </p:grpSpPr>
        <p:pic>
          <p:nvPicPr>
            <p:cNvPr id="43" name="Google Shape;43;p4" descr="Picture 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-1"/>
              <a:ext cx="570007" cy="5385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" name="Google Shape;44;p4"/>
            <p:cNvSpPr/>
            <p:nvPr/>
          </p:nvSpPr>
          <p:spPr>
            <a:xfrm rot="5400000">
              <a:off x="-1984249" y="2434583"/>
              <a:ext cx="4023362" cy="54865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sldNum" idx="1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1998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_Section Header">
  <p:cSld name="6_Section Head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5" descr="Picture 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509" y="4720046"/>
            <a:ext cx="320287" cy="340981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5"/>
          <p:cNvSpPr txBox="1"/>
          <p:nvPr/>
        </p:nvSpPr>
        <p:spPr>
          <a:xfrm>
            <a:off x="402969" y="4806163"/>
            <a:ext cx="2581893" cy="165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 STATE LA </a:t>
            </a:r>
            <a:r>
              <a:rPr lang="en-US" sz="600" b="0" i="0" u="none" strike="noStrike" cap="none">
                <a:solidFill>
                  <a:srgbClr val="FCC90A"/>
                </a:solidFill>
                <a:latin typeface="Arial"/>
                <a:ea typeface="Arial"/>
                <a:cs typeface="Arial"/>
                <a:sym typeface="Arial"/>
              </a:rPr>
              <a:t> |   </a:t>
            </a:r>
            <a:r>
              <a:rPr lang="en-US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Department of Computer Science</a:t>
            </a:r>
            <a:endParaRPr/>
          </a:p>
        </p:txBody>
      </p:sp>
      <p:pic>
        <p:nvPicPr>
          <p:cNvPr id="49" name="Google Shape;49;p5" descr="Picture 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07448" y="0"/>
            <a:ext cx="4536552" cy="512535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512001" y="644503"/>
            <a:ext cx="3592513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1"/>
          </p:nvPr>
        </p:nvSpPr>
        <p:spPr>
          <a:xfrm>
            <a:off x="512001" y="1666058"/>
            <a:ext cx="3592513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Font typeface="Arial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Font typeface="Arial"/>
              <a:buNone/>
              <a:defRPr sz="1500">
                <a:solidFill>
                  <a:srgbClr val="4A4F55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Font typeface="Arial"/>
              <a:buNone/>
              <a:defRPr sz="1500">
                <a:solidFill>
                  <a:srgbClr val="4A4F55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Font typeface="Arial"/>
              <a:buNone/>
              <a:defRPr sz="1500">
                <a:solidFill>
                  <a:srgbClr val="4A4F55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Font typeface="Arial"/>
              <a:buNone/>
              <a:defRPr sz="1500">
                <a:solidFill>
                  <a:srgbClr val="4A4F55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ldNum" idx="12"/>
          </p:nvPr>
        </p:nvSpPr>
        <p:spPr>
          <a:xfrm>
            <a:off x="8889161" y="4860076"/>
            <a:ext cx="220004" cy="20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" name="Google Shape;53;p5"/>
          <p:cNvSpPr/>
          <p:nvPr/>
        </p:nvSpPr>
        <p:spPr>
          <a:xfrm flipH="1">
            <a:off x="4607449" y="729324"/>
            <a:ext cx="147431" cy="441417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559" y="634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ubicBezTo>
                  <a:pt x="853" y="14611"/>
                  <a:pt x="1706" y="7623"/>
                  <a:pt x="2559" y="634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Section Header">
  <p:cSld name="2_Section Header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7" descr="Picture 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509" y="4720046"/>
            <a:ext cx="320287" cy="34098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7"/>
          <p:cNvSpPr txBox="1"/>
          <p:nvPr/>
        </p:nvSpPr>
        <p:spPr>
          <a:xfrm>
            <a:off x="402969" y="4806163"/>
            <a:ext cx="2581893" cy="165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 STATE LA </a:t>
            </a:r>
            <a:r>
              <a:rPr lang="en-US" sz="600" b="0" i="0" u="none" strike="noStrike" cap="none">
                <a:solidFill>
                  <a:srgbClr val="FCC90A"/>
                </a:solidFill>
                <a:latin typeface="Arial"/>
                <a:ea typeface="Arial"/>
                <a:cs typeface="Arial"/>
                <a:sym typeface="Arial"/>
              </a:rPr>
              <a:t> |   </a:t>
            </a:r>
            <a:r>
              <a:rPr lang="en-US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Department of Computer Science</a:t>
            </a:r>
            <a:endParaRPr/>
          </a:p>
        </p:txBody>
      </p:sp>
      <p:pic>
        <p:nvPicPr>
          <p:cNvPr id="67" name="Google Shape;67;p7" descr="Picture 6"/>
          <p:cNvPicPr preferRelativeResize="0"/>
          <p:nvPr/>
        </p:nvPicPr>
        <p:blipFill rotWithShape="1">
          <a:blip r:embed="rId3">
            <a:alphaModFix/>
          </a:blip>
          <a:srcRect l="2193" t="295" r="2531"/>
          <a:stretch/>
        </p:blipFill>
        <p:spPr>
          <a:xfrm>
            <a:off x="1793311" y="0"/>
            <a:ext cx="7350690" cy="51283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7"/>
          <p:cNvGrpSpPr/>
          <p:nvPr/>
        </p:nvGrpSpPr>
        <p:grpSpPr>
          <a:xfrm>
            <a:off x="439198" y="-2"/>
            <a:ext cx="6377357" cy="5154358"/>
            <a:chOff x="-1" y="-1"/>
            <a:chExt cx="6377355" cy="5154357"/>
          </a:xfrm>
        </p:grpSpPr>
        <p:sp>
          <p:nvSpPr>
            <p:cNvPr id="69" name="Google Shape;69;p7"/>
            <p:cNvSpPr/>
            <p:nvPr/>
          </p:nvSpPr>
          <p:spPr>
            <a:xfrm>
              <a:off x="-1" y="0"/>
              <a:ext cx="3059878" cy="514711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7"/>
            <p:cNvSpPr/>
            <p:nvPr/>
          </p:nvSpPr>
          <p:spPr>
            <a:xfrm rot="5400000">
              <a:off x="2141436" y="918439"/>
              <a:ext cx="5154357" cy="3317478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" name="Google Shape;71;p7"/>
          <p:cNvGrpSpPr/>
          <p:nvPr/>
        </p:nvGrpSpPr>
        <p:grpSpPr>
          <a:xfrm>
            <a:off x="-80649" y="-4"/>
            <a:ext cx="6377357" cy="5156082"/>
            <a:chOff x="-1" y="0"/>
            <a:chExt cx="6377355" cy="5156081"/>
          </a:xfrm>
        </p:grpSpPr>
        <p:sp>
          <p:nvSpPr>
            <p:cNvPr id="72" name="Google Shape;72;p7"/>
            <p:cNvSpPr/>
            <p:nvPr/>
          </p:nvSpPr>
          <p:spPr>
            <a:xfrm>
              <a:off x="-1" y="0"/>
              <a:ext cx="3059878" cy="51488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7"/>
            <p:cNvSpPr/>
            <p:nvPr/>
          </p:nvSpPr>
          <p:spPr>
            <a:xfrm rot="5400000">
              <a:off x="2140574" y="919301"/>
              <a:ext cx="5156081" cy="3317478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4" name="Google Shape;74;p7"/>
          <p:cNvSpPr/>
          <p:nvPr/>
        </p:nvSpPr>
        <p:spPr>
          <a:xfrm rot="1956373">
            <a:off x="4575728" y="1038849"/>
            <a:ext cx="133536" cy="451425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180" y="630"/>
                </a:moveTo>
                <a:lnTo>
                  <a:pt x="20120" y="0"/>
                </a:lnTo>
                <a:cubicBezTo>
                  <a:pt x="20613" y="7044"/>
                  <a:pt x="21106" y="14087"/>
                  <a:pt x="21600" y="21131"/>
                </a:cubicBezTo>
                <a:lnTo>
                  <a:pt x="0" y="21600"/>
                </a:lnTo>
                <a:cubicBezTo>
                  <a:pt x="915" y="14766"/>
                  <a:pt x="266" y="7463"/>
                  <a:pt x="1180" y="630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 txBox="1">
            <a:spLocks noGrp="1"/>
          </p:cNvSpPr>
          <p:nvPr>
            <p:ph type="title"/>
          </p:nvPr>
        </p:nvSpPr>
        <p:spPr>
          <a:xfrm>
            <a:off x="601358" y="470882"/>
            <a:ext cx="3592513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7"/>
          <p:cNvSpPr txBox="1">
            <a:spLocks noGrp="1"/>
          </p:cNvSpPr>
          <p:nvPr>
            <p:ph type="body" idx="1"/>
          </p:nvPr>
        </p:nvSpPr>
        <p:spPr>
          <a:xfrm>
            <a:off x="601358" y="1492437"/>
            <a:ext cx="3592513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Font typeface="Arial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Font typeface="Arial"/>
              <a:buNone/>
              <a:defRPr sz="1500">
                <a:solidFill>
                  <a:srgbClr val="4A4F55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Font typeface="Arial"/>
              <a:buNone/>
              <a:defRPr sz="1500">
                <a:solidFill>
                  <a:srgbClr val="4A4F55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Font typeface="Arial"/>
              <a:buNone/>
              <a:defRPr sz="1500">
                <a:solidFill>
                  <a:srgbClr val="4A4F55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Font typeface="Arial"/>
              <a:buNone/>
              <a:defRPr sz="1500">
                <a:solidFill>
                  <a:srgbClr val="4A4F55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7"/>
          <p:cNvSpPr txBox="1">
            <a:spLocks noGrp="1"/>
          </p:cNvSpPr>
          <p:nvPr>
            <p:ph type="sldNum" idx="12"/>
          </p:nvPr>
        </p:nvSpPr>
        <p:spPr>
          <a:xfrm>
            <a:off x="8889161" y="4860076"/>
            <a:ext cx="220004" cy="20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_Title Slide">
  <p:cSld name="5_Title Slide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8" descr="Picture 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509" y="4720046"/>
            <a:ext cx="320287" cy="34098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8"/>
          <p:cNvSpPr txBox="1"/>
          <p:nvPr/>
        </p:nvSpPr>
        <p:spPr>
          <a:xfrm>
            <a:off x="402969" y="4806163"/>
            <a:ext cx="2581893" cy="165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 STATE LA </a:t>
            </a:r>
            <a:r>
              <a:rPr lang="en-US" sz="600" b="0" i="0" u="none" strike="noStrike" cap="none">
                <a:solidFill>
                  <a:srgbClr val="FCC90A"/>
                </a:solidFill>
                <a:latin typeface="Arial"/>
                <a:ea typeface="Arial"/>
                <a:cs typeface="Arial"/>
                <a:sym typeface="Arial"/>
              </a:rPr>
              <a:t> |   </a:t>
            </a:r>
            <a:r>
              <a:rPr lang="en-US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Department of Computer Science</a:t>
            </a:r>
            <a:endParaRPr/>
          </a:p>
        </p:txBody>
      </p:sp>
      <p:sp>
        <p:nvSpPr>
          <p:cNvPr id="81" name="Google Shape;81;p8"/>
          <p:cNvSpPr/>
          <p:nvPr/>
        </p:nvSpPr>
        <p:spPr>
          <a:xfrm>
            <a:off x="5332352" y="9004"/>
            <a:ext cx="3788498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8" descr="Picture 7"/>
          <p:cNvPicPr preferRelativeResize="0"/>
          <p:nvPr/>
        </p:nvPicPr>
        <p:blipFill rotWithShape="1">
          <a:blip r:embed="rId3">
            <a:alphaModFix/>
          </a:blip>
          <a:srcRect r="16118"/>
          <a:stretch/>
        </p:blipFill>
        <p:spPr>
          <a:xfrm>
            <a:off x="5625196" y="556527"/>
            <a:ext cx="3495656" cy="4586973"/>
          </a:xfrm>
          <a:prstGeom prst="rect">
            <a:avLst/>
          </a:prstGeom>
          <a:noFill/>
          <a:ln>
            <a:noFill/>
          </a:ln>
          <a:effectLst>
            <a:outerShdw rotWithShape="0">
              <a:srgbClr val="000000">
                <a:alpha val="42745"/>
              </a:srgbClr>
            </a:outerShdw>
          </a:effectLst>
        </p:spPr>
      </p:pic>
      <p:sp>
        <p:nvSpPr>
          <p:cNvPr id="83" name="Google Shape;83;p8"/>
          <p:cNvSpPr txBox="1">
            <a:spLocks noGrp="1"/>
          </p:cNvSpPr>
          <p:nvPr>
            <p:ph type="sldNum" idx="12"/>
          </p:nvPr>
        </p:nvSpPr>
        <p:spPr>
          <a:xfrm>
            <a:off x="8923997" y="4903621"/>
            <a:ext cx="220003" cy="20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8"/>
          <p:cNvSpPr txBox="1">
            <a:spLocks noGrp="1"/>
          </p:cNvSpPr>
          <p:nvPr>
            <p:ph type="body" idx="1"/>
          </p:nvPr>
        </p:nvSpPr>
        <p:spPr>
          <a:xfrm>
            <a:off x="318901" y="1224321"/>
            <a:ext cx="4009260" cy="1314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A4F55"/>
              </a:buClr>
              <a:buSzPts val="1700"/>
              <a:buFont typeface="Arial"/>
              <a:buNone/>
              <a:defRPr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A4F55"/>
              </a:buClr>
              <a:buSzPts val="1700"/>
              <a:buFont typeface="Arial"/>
              <a:buNone/>
              <a:defRPr>
                <a:solidFill>
                  <a:srgbClr val="4A4F55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A4F55"/>
              </a:buClr>
              <a:buSzPts val="1700"/>
              <a:buFont typeface="Arial"/>
              <a:buNone/>
              <a:defRPr>
                <a:solidFill>
                  <a:srgbClr val="4A4F55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A4F55"/>
              </a:buClr>
              <a:buSzPts val="1700"/>
              <a:buFont typeface="Arial"/>
              <a:buNone/>
              <a:defRPr>
                <a:solidFill>
                  <a:srgbClr val="4A4F55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A4F55"/>
              </a:buClr>
              <a:buSzPts val="1700"/>
              <a:buFont typeface="Arial"/>
              <a:buNone/>
              <a:defRPr>
                <a:solidFill>
                  <a:srgbClr val="4A4F55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85" name="Google Shape;85;p8" descr="Picture 15"/>
          <p:cNvPicPr preferRelativeResize="0"/>
          <p:nvPr/>
        </p:nvPicPr>
        <p:blipFill rotWithShape="1">
          <a:blip r:embed="rId4">
            <a:alphaModFix/>
          </a:blip>
          <a:srcRect b="6847"/>
          <a:stretch/>
        </p:blipFill>
        <p:spPr>
          <a:xfrm>
            <a:off x="7713518" y="2761"/>
            <a:ext cx="1407333" cy="1498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8" descr="Picture 18"/>
          <p:cNvPicPr preferRelativeResize="0"/>
          <p:nvPr/>
        </p:nvPicPr>
        <p:blipFill rotWithShape="1">
          <a:blip r:embed="rId5">
            <a:alphaModFix/>
          </a:blip>
          <a:srcRect b="19853"/>
          <a:stretch/>
        </p:blipFill>
        <p:spPr>
          <a:xfrm>
            <a:off x="5489178" y="2791962"/>
            <a:ext cx="818535" cy="2200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8" descr="Picture 2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54802" y="1407073"/>
            <a:ext cx="1332109" cy="877806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"/>
          <p:cNvSpPr txBox="1">
            <a:spLocks noGrp="1"/>
          </p:cNvSpPr>
          <p:nvPr>
            <p:ph type="title"/>
          </p:nvPr>
        </p:nvSpPr>
        <p:spPr>
          <a:xfrm>
            <a:off x="228600" y="170260"/>
            <a:ext cx="8769096" cy="857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3_Title Slide">
  <p:cSld name="3_Title Slide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9" descr="Picture 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509" y="4720046"/>
            <a:ext cx="320287" cy="34098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9"/>
          <p:cNvSpPr txBox="1"/>
          <p:nvPr/>
        </p:nvSpPr>
        <p:spPr>
          <a:xfrm>
            <a:off x="402969" y="4806163"/>
            <a:ext cx="2581893" cy="165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 STATE LA </a:t>
            </a:r>
            <a:r>
              <a:rPr lang="en-US" sz="600" b="0" i="0" u="none" strike="noStrike" cap="none">
                <a:solidFill>
                  <a:srgbClr val="FCC90A"/>
                </a:solidFill>
                <a:latin typeface="Arial"/>
                <a:ea typeface="Arial"/>
                <a:cs typeface="Arial"/>
                <a:sym typeface="Arial"/>
              </a:rPr>
              <a:t> |   </a:t>
            </a:r>
            <a:r>
              <a:rPr lang="en-US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Department of Computer Science</a:t>
            </a:r>
            <a:endParaRPr/>
          </a:p>
        </p:txBody>
      </p:sp>
      <p:sp>
        <p:nvSpPr>
          <p:cNvPr id="92" name="Google Shape;92;p9"/>
          <p:cNvSpPr/>
          <p:nvPr/>
        </p:nvSpPr>
        <p:spPr>
          <a:xfrm>
            <a:off x="4683759" y="9004"/>
            <a:ext cx="4460241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9"/>
          <p:cNvSpPr txBox="1">
            <a:spLocks noGrp="1"/>
          </p:cNvSpPr>
          <p:nvPr>
            <p:ph type="sldNum" idx="12"/>
          </p:nvPr>
        </p:nvSpPr>
        <p:spPr>
          <a:xfrm>
            <a:off x="8923997" y="4903621"/>
            <a:ext cx="220003" cy="20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9"/>
          <p:cNvSpPr txBox="1">
            <a:spLocks noGrp="1"/>
          </p:cNvSpPr>
          <p:nvPr>
            <p:ph type="body" idx="1"/>
          </p:nvPr>
        </p:nvSpPr>
        <p:spPr>
          <a:xfrm>
            <a:off x="318901" y="1224321"/>
            <a:ext cx="4009260" cy="1314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A4F55"/>
              </a:buClr>
              <a:buSzPts val="1700"/>
              <a:buFont typeface="Arial"/>
              <a:buNone/>
              <a:defRPr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A4F55"/>
              </a:buClr>
              <a:buSzPts val="1700"/>
              <a:buFont typeface="Arial"/>
              <a:buNone/>
              <a:defRPr>
                <a:solidFill>
                  <a:srgbClr val="4A4F55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A4F55"/>
              </a:buClr>
              <a:buSzPts val="1700"/>
              <a:buFont typeface="Arial"/>
              <a:buNone/>
              <a:defRPr>
                <a:solidFill>
                  <a:srgbClr val="4A4F55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A4F55"/>
              </a:buClr>
              <a:buSzPts val="1700"/>
              <a:buFont typeface="Arial"/>
              <a:buNone/>
              <a:defRPr>
                <a:solidFill>
                  <a:srgbClr val="4A4F55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A4F55"/>
              </a:buClr>
              <a:buSzPts val="1700"/>
              <a:buFont typeface="Arial"/>
              <a:buNone/>
              <a:defRPr>
                <a:solidFill>
                  <a:srgbClr val="4A4F55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228600" y="170260"/>
            <a:ext cx="8769096" cy="857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96" name="Google Shape;96;p9" descr="Picture 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83759" y="702216"/>
            <a:ext cx="3865881" cy="4450287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9"/>
          <p:cNvSpPr/>
          <p:nvPr/>
        </p:nvSpPr>
        <p:spPr>
          <a:xfrm flipH="1">
            <a:off x="4683073" y="720320"/>
            <a:ext cx="199496" cy="441417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559" y="634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ubicBezTo>
                  <a:pt x="853" y="14611"/>
                  <a:pt x="1706" y="7623"/>
                  <a:pt x="2559" y="634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" descr="Picture 15"/>
          <p:cNvPicPr preferRelativeResize="0"/>
          <p:nvPr/>
        </p:nvPicPr>
        <p:blipFill rotWithShape="1">
          <a:blip r:embed="rId4">
            <a:alphaModFix/>
          </a:blip>
          <a:srcRect b="6847"/>
          <a:stretch/>
        </p:blipFill>
        <p:spPr>
          <a:xfrm>
            <a:off x="7736668" y="9003"/>
            <a:ext cx="1407333" cy="1498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_Section Header">
  <p:cSld name="5_Section Header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0" descr="Picture 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509" y="4720046"/>
            <a:ext cx="320287" cy="34098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0"/>
          <p:cNvSpPr txBox="1"/>
          <p:nvPr/>
        </p:nvSpPr>
        <p:spPr>
          <a:xfrm>
            <a:off x="402969" y="4806163"/>
            <a:ext cx="2581893" cy="165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 STATE LA </a:t>
            </a:r>
            <a:r>
              <a:rPr lang="en-US" sz="600" b="0" i="0" u="none" strike="noStrike" cap="none">
                <a:solidFill>
                  <a:srgbClr val="FCC90A"/>
                </a:solidFill>
                <a:latin typeface="Arial"/>
                <a:ea typeface="Arial"/>
                <a:cs typeface="Arial"/>
                <a:sym typeface="Arial"/>
              </a:rPr>
              <a:t> |   </a:t>
            </a:r>
            <a:r>
              <a:rPr lang="en-US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Department of Computer Science</a:t>
            </a:r>
            <a:endParaRPr/>
          </a:p>
        </p:txBody>
      </p:sp>
      <p:pic>
        <p:nvPicPr>
          <p:cNvPr id="102" name="Google Shape;102;p10" descr="Picture 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836" y="0"/>
            <a:ext cx="453603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0"/>
          <p:cNvSpPr txBox="1">
            <a:spLocks noGrp="1"/>
          </p:cNvSpPr>
          <p:nvPr>
            <p:ph type="title"/>
          </p:nvPr>
        </p:nvSpPr>
        <p:spPr>
          <a:xfrm>
            <a:off x="4791392" y="644503"/>
            <a:ext cx="3592513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body" idx="1"/>
          </p:nvPr>
        </p:nvSpPr>
        <p:spPr>
          <a:xfrm>
            <a:off x="4791392" y="1666058"/>
            <a:ext cx="3592513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Font typeface="Arial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Font typeface="Arial"/>
              <a:buNone/>
              <a:defRPr sz="1500">
                <a:solidFill>
                  <a:srgbClr val="4A4F55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Font typeface="Arial"/>
              <a:buNone/>
              <a:defRPr sz="1500">
                <a:solidFill>
                  <a:srgbClr val="4A4F55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Font typeface="Arial"/>
              <a:buNone/>
              <a:defRPr sz="1500">
                <a:solidFill>
                  <a:srgbClr val="4A4F55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Font typeface="Arial"/>
              <a:buNone/>
              <a:defRPr sz="1500">
                <a:solidFill>
                  <a:srgbClr val="4A4F55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10"/>
          <p:cNvSpPr txBox="1">
            <a:spLocks noGrp="1"/>
          </p:cNvSpPr>
          <p:nvPr>
            <p:ph type="sldNum" idx="12"/>
          </p:nvPr>
        </p:nvSpPr>
        <p:spPr>
          <a:xfrm>
            <a:off x="8889161" y="4860076"/>
            <a:ext cx="220004" cy="20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4427668" y="729324"/>
            <a:ext cx="143206" cy="441417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559" y="634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ubicBezTo>
                  <a:pt x="853" y="14611"/>
                  <a:pt x="1706" y="7623"/>
                  <a:pt x="2559" y="634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_Title Slide">
  <p:cSld name="4_Title Slide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1" descr="Picture 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509" y="4720046"/>
            <a:ext cx="320287" cy="340981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1"/>
          <p:cNvSpPr txBox="1"/>
          <p:nvPr/>
        </p:nvSpPr>
        <p:spPr>
          <a:xfrm>
            <a:off x="402969" y="4806163"/>
            <a:ext cx="2581893" cy="165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 STATE LA </a:t>
            </a:r>
            <a:r>
              <a:rPr lang="en-US" sz="600" b="0" i="0" u="none" strike="noStrike" cap="none">
                <a:solidFill>
                  <a:srgbClr val="FCC90A"/>
                </a:solidFill>
                <a:latin typeface="Arial"/>
                <a:ea typeface="Arial"/>
                <a:cs typeface="Arial"/>
                <a:sym typeface="Arial"/>
              </a:rPr>
              <a:t> |   </a:t>
            </a:r>
            <a:r>
              <a:rPr lang="en-US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Department of Computer Science</a:t>
            </a:r>
            <a:endParaRPr/>
          </a:p>
        </p:txBody>
      </p:sp>
      <p:sp>
        <p:nvSpPr>
          <p:cNvPr id="110" name="Google Shape;110;p11"/>
          <p:cNvSpPr/>
          <p:nvPr/>
        </p:nvSpPr>
        <p:spPr>
          <a:xfrm>
            <a:off x="4683759" y="9004"/>
            <a:ext cx="4460241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11" descr="Picture 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77507" y="922252"/>
            <a:ext cx="4466495" cy="422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1"/>
          <p:cNvSpPr txBox="1">
            <a:spLocks noGrp="1"/>
          </p:cNvSpPr>
          <p:nvPr>
            <p:ph type="sldNum" idx="12"/>
          </p:nvPr>
        </p:nvSpPr>
        <p:spPr>
          <a:xfrm>
            <a:off x="8923997" y="4903621"/>
            <a:ext cx="220003" cy="20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3" name="Google Shape;113;p11"/>
          <p:cNvSpPr txBox="1">
            <a:spLocks noGrp="1"/>
          </p:cNvSpPr>
          <p:nvPr>
            <p:ph type="body" idx="1"/>
          </p:nvPr>
        </p:nvSpPr>
        <p:spPr>
          <a:xfrm>
            <a:off x="318901" y="1224321"/>
            <a:ext cx="4009260" cy="1314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A4F55"/>
              </a:buClr>
              <a:buSzPts val="1700"/>
              <a:buFont typeface="Lexend"/>
              <a:buNone/>
              <a:defRPr>
                <a:solidFill>
                  <a:srgbClr val="4A4F55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A4F55"/>
              </a:buClr>
              <a:buSzPts val="1700"/>
              <a:buFont typeface="Lexend"/>
              <a:buNone/>
              <a:defRPr>
                <a:solidFill>
                  <a:srgbClr val="4A4F55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A4F55"/>
              </a:buClr>
              <a:buSzPts val="1700"/>
              <a:buFont typeface="Lexend"/>
              <a:buNone/>
              <a:defRPr>
                <a:solidFill>
                  <a:srgbClr val="4A4F55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A4F55"/>
              </a:buClr>
              <a:buSzPts val="1700"/>
              <a:buFont typeface="Lexend"/>
              <a:buNone/>
              <a:defRPr>
                <a:solidFill>
                  <a:srgbClr val="4A4F55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A4F55"/>
              </a:buClr>
              <a:buSzPts val="1700"/>
              <a:buFont typeface="Lexend"/>
              <a:buNone/>
              <a:defRPr>
                <a:solidFill>
                  <a:srgbClr val="4A4F55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exend"/>
              <a:buChar char="•"/>
              <a:defRPr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exend"/>
              <a:buChar char="•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exend"/>
              <a:buChar char="•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exend"/>
              <a:buChar char="•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pic>
        <p:nvPicPr>
          <p:cNvPr id="114" name="Google Shape;114;p11" descr="Picture 18"/>
          <p:cNvPicPr preferRelativeResize="0"/>
          <p:nvPr/>
        </p:nvPicPr>
        <p:blipFill rotWithShape="1">
          <a:blip r:embed="rId4">
            <a:alphaModFix/>
          </a:blip>
          <a:srcRect b="19853"/>
          <a:stretch/>
        </p:blipFill>
        <p:spPr>
          <a:xfrm rot="-8851503">
            <a:off x="5255190" y="465522"/>
            <a:ext cx="930294" cy="2422736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1"/>
          <p:cNvSpPr txBox="1">
            <a:spLocks noGrp="1"/>
          </p:cNvSpPr>
          <p:nvPr>
            <p:ph type="title"/>
          </p:nvPr>
        </p:nvSpPr>
        <p:spPr>
          <a:xfrm>
            <a:off x="228600" y="170260"/>
            <a:ext cx="8769096" cy="857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exend"/>
              <a:buNone/>
              <a:defRPr b="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1"/>
          <p:cNvSpPr/>
          <p:nvPr/>
        </p:nvSpPr>
        <p:spPr>
          <a:xfrm>
            <a:off x="4677505" y="0"/>
            <a:ext cx="4466496" cy="914400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11" descr="Picture 15"/>
          <p:cNvPicPr preferRelativeResize="0"/>
          <p:nvPr/>
        </p:nvPicPr>
        <p:blipFill rotWithShape="1">
          <a:blip r:embed="rId5">
            <a:alphaModFix/>
          </a:blip>
          <a:srcRect b="6847"/>
          <a:stretch/>
        </p:blipFill>
        <p:spPr>
          <a:xfrm>
            <a:off x="7713518" y="2761"/>
            <a:ext cx="1407333" cy="1498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Section Header">
  <p:cSld name="1_Section Header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3" descr="Picture 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509" y="4720046"/>
            <a:ext cx="320287" cy="340981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3"/>
          <p:cNvSpPr txBox="1"/>
          <p:nvPr/>
        </p:nvSpPr>
        <p:spPr>
          <a:xfrm>
            <a:off x="402969" y="4806163"/>
            <a:ext cx="2581893" cy="165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 STATE LA </a:t>
            </a:r>
            <a:r>
              <a:rPr lang="en-US" sz="600" b="0" i="0" u="none" strike="noStrike" cap="none">
                <a:solidFill>
                  <a:srgbClr val="FCC90A"/>
                </a:solidFill>
                <a:latin typeface="Arial"/>
                <a:ea typeface="Arial"/>
                <a:cs typeface="Arial"/>
                <a:sym typeface="Arial"/>
              </a:rPr>
              <a:t> |   </a:t>
            </a:r>
            <a:r>
              <a:rPr lang="en-US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Department of Computer Science</a:t>
            </a:r>
            <a:endParaRPr/>
          </a:p>
        </p:txBody>
      </p:sp>
      <p:pic>
        <p:nvPicPr>
          <p:cNvPr id="134" name="Google Shape;134;p13" descr="Picture 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6058" y="-13"/>
            <a:ext cx="5432225" cy="51339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5" name="Google Shape;135;p13"/>
          <p:cNvGrpSpPr/>
          <p:nvPr/>
        </p:nvGrpSpPr>
        <p:grpSpPr>
          <a:xfrm>
            <a:off x="2071686" y="-10887"/>
            <a:ext cx="6399494" cy="5143504"/>
            <a:chOff x="-1" y="0"/>
            <a:chExt cx="6399492" cy="5143502"/>
          </a:xfrm>
        </p:grpSpPr>
        <p:sp>
          <p:nvSpPr>
            <p:cNvPr id="136" name="Google Shape;136;p13"/>
            <p:cNvSpPr/>
            <p:nvPr/>
          </p:nvSpPr>
          <p:spPr>
            <a:xfrm rot="10800000">
              <a:off x="3328992" y="7221"/>
              <a:ext cx="3070499" cy="51362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13"/>
            <p:cNvSpPr/>
            <p:nvPr/>
          </p:nvSpPr>
          <p:spPr>
            <a:xfrm rot="-5400000">
              <a:off x="-907255" y="907254"/>
              <a:ext cx="5143502" cy="332899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8" name="Google Shape;138;p13"/>
          <p:cNvGrpSpPr/>
          <p:nvPr/>
        </p:nvGrpSpPr>
        <p:grpSpPr>
          <a:xfrm>
            <a:off x="2589182" y="-16821"/>
            <a:ext cx="6548807" cy="5169258"/>
            <a:chOff x="0" y="-1"/>
            <a:chExt cx="6548804" cy="5169257"/>
          </a:xfrm>
        </p:grpSpPr>
        <p:sp>
          <p:nvSpPr>
            <p:cNvPr id="139" name="Google Shape;139;p13"/>
            <p:cNvSpPr/>
            <p:nvPr/>
          </p:nvSpPr>
          <p:spPr>
            <a:xfrm rot="10800000">
              <a:off x="3317477" y="7256"/>
              <a:ext cx="3231327" cy="516199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13"/>
            <p:cNvSpPr/>
            <p:nvPr/>
          </p:nvSpPr>
          <p:spPr>
            <a:xfrm rot="-5400000">
              <a:off x="-925890" y="925889"/>
              <a:ext cx="5169257" cy="3317478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13"/>
          <p:cNvSpPr/>
          <p:nvPr/>
        </p:nvSpPr>
        <p:spPr>
          <a:xfrm rot="-8820000">
            <a:off x="4208374" y="-421297"/>
            <a:ext cx="153843" cy="4527615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899" y="629"/>
                </a:moveTo>
                <a:lnTo>
                  <a:pt x="20244" y="0"/>
                </a:lnTo>
                <a:cubicBezTo>
                  <a:pt x="20696" y="7031"/>
                  <a:pt x="21148" y="14062"/>
                  <a:pt x="21600" y="21094"/>
                </a:cubicBezTo>
                <a:cubicBezTo>
                  <a:pt x="3851" y="21483"/>
                  <a:pt x="7200" y="21431"/>
                  <a:pt x="0" y="21600"/>
                </a:cubicBezTo>
                <a:cubicBezTo>
                  <a:pt x="838" y="14778"/>
                  <a:pt x="2061" y="7450"/>
                  <a:pt x="2899" y="629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3"/>
          <p:cNvSpPr txBox="1">
            <a:spLocks noGrp="1"/>
          </p:cNvSpPr>
          <p:nvPr>
            <p:ph type="title"/>
          </p:nvPr>
        </p:nvSpPr>
        <p:spPr>
          <a:xfrm>
            <a:off x="4520563" y="2612014"/>
            <a:ext cx="3592514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13"/>
          <p:cNvSpPr txBox="1">
            <a:spLocks noGrp="1"/>
          </p:cNvSpPr>
          <p:nvPr>
            <p:ph type="body" idx="1"/>
          </p:nvPr>
        </p:nvSpPr>
        <p:spPr>
          <a:xfrm>
            <a:off x="4520563" y="3633570"/>
            <a:ext cx="3592514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Font typeface="Arial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Font typeface="Arial"/>
              <a:buNone/>
              <a:defRPr sz="1500">
                <a:solidFill>
                  <a:srgbClr val="4A4F55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Font typeface="Arial"/>
              <a:buNone/>
              <a:defRPr sz="1500">
                <a:solidFill>
                  <a:srgbClr val="4A4F55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Font typeface="Arial"/>
              <a:buNone/>
              <a:defRPr sz="1500">
                <a:solidFill>
                  <a:srgbClr val="4A4F55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Font typeface="Arial"/>
              <a:buNone/>
              <a:defRPr sz="1500">
                <a:solidFill>
                  <a:srgbClr val="4A4F55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4" name="Google Shape;144;p13"/>
          <p:cNvSpPr txBox="1">
            <a:spLocks noGrp="1"/>
          </p:cNvSpPr>
          <p:nvPr>
            <p:ph type="sldNum" idx="12"/>
          </p:nvPr>
        </p:nvSpPr>
        <p:spPr>
          <a:xfrm>
            <a:off x="8889161" y="4860076"/>
            <a:ext cx="220004" cy="20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3_Section Header">
  <p:cSld name="3_Section Header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4" descr="Picture 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509" y="4720046"/>
            <a:ext cx="320287" cy="340981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4"/>
          <p:cNvSpPr txBox="1"/>
          <p:nvPr/>
        </p:nvSpPr>
        <p:spPr>
          <a:xfrm>
            <a:off x="402969" y="4806163"/>
            <a:ext cx="2581893" cy="165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 STATE LA </a:t>
            </a:r>
            <a:r>
              <a:rPr lang="en-US" sz="600" b="0" i="0" u="none" strike="noStrike" cap="none">
                <a:solidFill>
                  <a:srgbClr val="FCC90A"/>
                </a:solidFill>
                <a:latin typeface="Arial"/>
                <a:ea typeface="Arial"/>
                <a:cs typeface="Arial"/>
                <a:sym typeface="Arial"/>
              </a:rPr>
              <a:t> |   </a:t>
            </a:r>
            <a:r>
              <a:rPr lang="en-US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Department of Computer Science</a:t>
            </a:r>
            <a:endParaRPr/>
          </a:p>
        </p:txBody>
      </p:sp>
      <p:pic>
        <p:nvPicPr>
          <p:cNvPr id="148" name="Google Shape;148;p14" descr="Picture 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9564"/>
            <a:ext cx="5387333" cy="516199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9" name="Google Shape;149;p14"/>
          <p:cNvGrpSpPr/>
          <p:nvPr/>
        </p:nvGrpSpPr>
        <p:grpSpPr>
          <a:xfrm>
            <a:off x="2071686" y="-10887"/>
            <a:ext cx="6399494" cy="5143504"/>
            <a:chOff x="-1" y="0"/>
            <a:chExt cx="6399492" cy="5143502"/>
          </a:xfrm>
        </p:grpSpPr>
        <p:sp>
          <p:nvSpPr>
            <p:cNvPr id="150" name="Google Shape;150;p14"/>
            <p:cNvSpPr/>
            <p:nvPr/>
          </p:nvSpPr>
          <p:spPr>
            <a:xfrm rot="10800000">
              <a:off x="3328992" y="7221"/>
              <a:ext cx="3070499" cy="513628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14"/>
            <p:cNvSpPr/>
            <p:nvPr/>
          </p:nvSpPr>
          <p:spPr>
            <a:xfrm rot="-5400000">
              <a:off x="-907255" y="907254"/>
              <a:ext cx="5143502" cy="332899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2" name="Google Shape;152;p14"/>
          <p:cNvGrpSpPr/>
          <p:nvPr/>
        </p:nvGrpSpPr>
        <p:grpSpPr>
          <a:xfrm>
            <a:off x="2589182" y="-16821"/>
            <a:ext cx="6548807" cy="5169258"/>
            <a:chOff x="0" y="-1"/>
            <a:chExt cx="6548804" cy="5169257"/>
          </a:xfrm>
        </p:grpSpPr>
        <p:sp>
          <p:nvSpPr>
            <p:cNvPr id="153" name="Google Shape;153;p14"/>
            <p:cNvSpPr/>
            <p:nvPr/>
          </p:nvSpPr>
          <p:spPr>
            <a:xfrm rot="10800000">
              <a:off x="3317477" y="7256"/>
              <a:ext cx="3231327" cy="516199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14"/>
            <p:cNvSpPr/>
            <p:nvPr/>
          </p:nvSpPr>
          <p:spPr>
            <a:xfrm rot="-5400000">
              <a:off x="-925890" y="925889"/>
              <a:ext cx="5169257" cy="3317478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5" name="Google Shape;155;p14"/>
          <p:cNvSpPr/>
          <p:nvPr/>
        </p:nvSpPr>
        <p:spPr>
          <a:xfrm rot="-8820000">
            <a:off x="4208374" y="-421297"/>
            <a:ext cx="153843" cy="4527615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899" y="629"/>
                </a:moveTo>
                <a:lnTo>
                  <a:pt x="20244" y="0"/>
                </a:lnTo>
                <a:cubicBezTo>
                  <a:pt x="20696" y="7031"/>
                  <a:pt x="21148" y="14062"/>
                  <a:pt x="21600" y="21094"/>
                </a:cubicBezTo>
                <a:cubicBezTo>
                  <a:pt x="3851" y="21483"/>
                  <a:pt x="7200" y="21431"/>
                  <a:pt x="0" y="21600"/>
                </a:cubicBezTo>
                <a:cubicBezTo>
                  <a:pt x="838" y="14778"/>
                  <a:pt x="2061" y="7450"/>
                  <a:pt x="2899" y="629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4"/>
          <p:cNvSpPr txBox="1">
            <a:spLocks noGrp="1"/>
          </p:cNvSpPr>
          <p:nvPr>
            <p:ph type="title"/>
          </p:nvPr>
        </p:nvSpPr>
        <p:spPr>
          <a:xfrm>
            <a:off x="4520563" y="2612014"/>
            <a:ext cx="3592514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14"/>
          <p:cNvSpPr txBox="1">
            <a:spLocks noGrp="1"/>
          </p:cNvSpPr>
          <p:nvPr>
            <p:ph type="body" idx="1"/>
          </p:nvPr>
        </p:nvSpPr>
        <p:spPr>
          <a:xfrm>
            <a:off x="4520563" y="3633570"/>
            <a:ext cx="3592514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Font typeface="Arial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Font typeface="Arial"/>
              <a:buNone/>
              <a:defRPr sz="1500">
                <a:solidFill>
                  <a:srgbClr val="4A4F55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Font typeface="Arial"/>
              <a:buNone/>
              <a:defRPr sz="1500">
                <a:solidFill>
                  <a:srgbClr val="4A4F55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Font typeface="Arial"/>
              <a:buNone/>
              <a:defRPr sz="1500">
                <a:solidFill>
                  <a:srgbClr val="4A4F55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Font typeface="Arial"/>
              <a:buNone/>
              <a:defRPr sz="1500">
                <a:solidFill>
                  <a:srgbClr val="4A4F55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8" name="Google Shape;158;p14"/>
          <p:cNvSpPr txBox="1">
            <a:spLocks noGrp="1"/>
          </p:cNvSpPr>
          <p:nvPr>
            <p:ph type="sldNum" idx="12"/>
          </p:nvPr>
        </p:nvSpPr>
        <p:spPr>
          <a:xfrm>
            <a:off x="8889161" y="4860076"/>
            <a:ext cx="220004" cy="20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_Section Header">
  <p:cSld name="4_Section Header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5" descr="Picture 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509" y="4720046"/>
            <a:ext cx="320287" cy="34098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5"/>
          <p:cNvSpPr txBox="1"/>
          <p:nvPr/>
        </p:nvSpPr>
        <p:spPr>
          <a:xfrm>
            <a:off x="402969" y="4806163"/>
            <a:ext cx="2581893" cy="165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 STATE LA </a:t>
            </a:r>
            <a:r>
              <a:rPr lang="en-US" sz="600" b="0" i="0" u="none" strike="noStrike" cap="none">
                <a:solidFill>
                  <a:srgbClr val="FCC90A"/>
                </a:solidFill>
                <a:latin typeface="Arial"/>
                <a:ea typeface="Arial"/>
                <a:cs typeface="Arial"/>
                <a:sym typeface="Arial"/>
              </a:rPr>
              <a:t> |   </a:t>
            </a:r>
            <a:r>
              <a:rPr lang="en-US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Department of Computer Science</a:t>
            </a:r>
            <a:endParaRPr/>
          </a:p>
        </p:txBody>
      </p:sp>
      <p:pic>
        <p:nvPicPr>
          <p:cNvPr id="162" name="Google Shape;162;p15" descr="Picture 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69971" y="-8961"/>
            <a:ext cx="5774029" cy="514340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3" name="Google Shape;163;p15"/>
          <p:cNvGrpSpPr/>
          <p:nvPr/>
        </p:nvGrpSpPr>
        <p:grpSpPr>
          <a:xfrm>
            <a:off x="439198" y="-2"/>
            <a:ext cx="6377357" cy="5154358"/>
            <a:chOff x="-1" y="-1"/>
            <a:chExt cx="6377355" cy="5154357"/>
          </a:xfrm>
        </p:grpSpPr>
        <p:sp>
          <p:nvSpPr>
            <p:cNvPr id="164" name="Google Shape;164;p15"/>
            <p:cNvSpPr/>
            <p:nvPr/>
          </p:nvSpPr>
          <p:spPr>
            <a:xfrm>
              <a:off x="-1" y="0"/>
              <a:ext cx="3059878" cy="514711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15"/>
            <p:cNvSpPr/>
            <p:nvPr/>
          </p:nvSpPr>
          <p:spPr>
            <a:xfrm rot="5400000">
              <a:off x="2141436" y="918439"/>
              <a:ext cx="5154357" cy="3317478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6" name="Google Shape;166;p15"/>
          <p:cNvGrpSpPr/>
          <p:nvPr/>
        </p:nvGrpSpPr>
        <p:grpSpPr>
          <a:xfrm>
            <a:off x="-80649" y="-4"/>
            <a:ext cx="6377357" cy="5156082"/>
            <a:chOff x="-1" y="0"/>
            <a:chExt cx="6377355" cy="5156081"/>
          </a:xfrm>
        </p:grpSpPr>
        <p:sp>
          <p:nvSpPr>
            <p:cNvPr id="167" name="Google Shape;167;p15"/>
            <p:cNvSpPr/>
            <p:nvPr/>
          </p:nvSpPr>
          <p:spPr>
            <a:xfrm>
              <a:off x="-1" y="0"/>
              <a:ext cx="3059878" cy="51488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15"/>
            <p:cNvSpPr/>
            <p:nvPr/>
          </p:nvSpPr>
          <p:spPr>
            <a:xfrm rot="5400000">
              <a:off x="2140574" y="919301"/>
              <a:ext cx="5156081" cy="3317478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9" name="Google Shape;169;p15"/>
          <p:cNvSpPr/>
          <p:nvPr/>
        </p:nvSpPr>
        <p:spPr>
          <a:xfrm rot="1956373">
            <a:off x="4575728" y="1038849"/>
            <a:ext cx="133536" cy="451425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180" y="630"/>
                </a:moveTo>
                <a:lnTo>
                  <a:pt x="20120" y="0"/>
                </a:lnTo>
                <a:cubicBezTo>
                  <a:pt x="20613" y="7044"/>
                  <a:pt x="21106" y="14087"/>
                  <a:pt x="21600" y="21131"/>
                </a:cubicBezTo>
                <a:lnTo>
                  <a:pt x="0" y="21600"/>
                </a:lnTo>
                <a:cubicBezTo>
                  <a:pt x="915" y="14766"/>
                  <a:pt x="266" y="7463"/>
                  <a:pt x="1180" y="630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5"/>
          <p:cNvSpPr txBox="1">
            <a:spLocks noGrp="1"/>
          </p:cNvSpPr>
          <p:nvPr>
            <p:ph type="title"/>
          </p:nvPr>
        </p:nvSpPr>
        <p:spPr>
          <a:xfrm>
            <a:off x="601358" y="470882"/>
            <a:ext cx="3592513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5"/>
          <p:cNvSpPr txBox="1">
            <a:spLocks noGrp="1"/>
          </p:cNvSpPr>
          <p:nvPr>
            <p:ph type="body" idx="1"/>
          </p:nvPr>
        </p:nvSpPr>
        <p:spPr>
          <a:xfrm>
            <a:off x="601358" y="1492437"/>
            <a:ext cx="3592513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Font typeface="Arial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Font typeface="Arial"/>
              <a:buNone/>
              <a:defRPr sz="1500">
                <a:solidFill>
                  <a:srgbClr val="4A4F55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Font typeface="Arial"/>
              <a:buNone/>
              <a:defRPr sz="1500">
                <a:solidFill>
                  <a:srgbClr val="4A4F55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Font typeface="Arial"/>
              <a:buNone/>
              <a:defRPr sz="1500">
                <a:solidFill>
                  <a:srgbClr val="4A4F55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Font typeface="Arial"/>
              <a:buNone/>
              <a:defRPr sz="1500">
                <a:solidFill>
                  <a:srgbClr val="4A4F55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2" name="Google Shape;172;p15"/>
          <p:cNvSpPr txBox="1">
            <a:spLocks noGrp="1"/>
          </p:cNvSpPr>
          <p:nvPr>
            <p:ph type="sldNum" idx="12"/>
          </p:nvPr>
        </p:nvSpPr>
        <p:spPr>
          <a:xfrm>
            <a:off x="8889161" y="4860076"/>
            <a:ext cx="220004" cy="20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Only">
  <p:cSld name="Header Only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6"/>
          <p:cNvSpPr txBox="1">
            <a:spLocks noGrp="1"/>
          </p:cNvSpPr>
          <p:nvPr>
            <p:ph type="sldNum" idx="12"/>
          </p:nvPr>
        </p:nvSpPr>
        <p:spPr>
          <a:xfrm>
            <a:off x="8889161" y="4860076"/>
            <a:ext cx="220004" cy="20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5" name="Google Shape;175;p16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Title and Content">
  <p:cSld name="2_Title and Content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8" descr="Picture 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509" y="4720046"/>
            <a:ext cx="320287" cy="340981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8"/>
          <p:cNvSpPr txBox="1"/>
          <p:nvPr/>
        </p:nvSpPr>
        <p:spPr>
          <a:xfrm>
            <a:off x="402969" y="4806163"/>
            <a:ext cx="2581893" cy="165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 STATE LA </a:t>
            </a:r>
            <a:r>
              <a:rPr lang="en-US" sz="600" b="0" i="0" u="none" strike="noStrike" cap="none">
                <a:solidFill>
                  <a:srgbClr val="FCC90A"/>
                </a:solidFill>
                <a:latin typeface="Arial"/>
                <a:ea typeface="Arial"/>
                <a:cs typeface="Arial"/>
                <a:sym typeface="Arial"/>
              </a:rPr>
              <a:t> |   </a:t>
            </a:r>
            <a:r>
              <a:rPr lang="en-US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Department of Computer Science</a:t>
            </a:r>
            <a:endParaRPr/>
          </a:p>
        </p:txBody>
      </p:sp>
      <p:pic>
        <p:nvPicPr>
          <p:cNvPr id="189" name="Google Shape;189;p18" descr="Picture 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18" y="0"/>
            <a:ext cx="876602" cy="7642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0" name="Google Shape;190;p18"/>
          <p:cNvGrpSpPr/>
          <p:nvPr/>
        </p:nvGrpSpPr>
        <p:grpSpPr>
          <a:xfrm>
            <a:off x="198022" y="147081"/>
            <a:ext cx="8503922" cy="543194"/>
            <a:chOff x="0" y="0"/>
            <a:chExt cx="8503920" cy="543192"/>
          </a:xfrm>
        </p:grpSpPr>
        <p:pic>
          <p:nvPicPr>
            <p:cNvPr id="191" name="Google Shape;191;p18" descr="Picture 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0" y="4668"/>
              <a:ext cx="481126" cy="5385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2" name="Google Shape;192;p18"/>
            <p:cNvSpPr/>
            <p:nvPr/>
          </p:nvSpPr>
          <p:spPr>
            <a:xfrm>
              <a:off x="481125" y="0"/>
              <a:ext cx="8022795" cy="64009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3" name="Google Shape;193;p18"/>
          <p:cNvSpPr txBox="1">
            <a:spLocks noGrp="1"/>
          </p:cNvSpPr>
          <p:nvPr>
            <p:ph type="title"/>
          </p:nvPr>
        </p:nvSpPr>
        <p:spPr>
          <a:xfrm>
            <a:off x="536408" y="229322"/>
            <a:ext cx="8140628" cy="857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exend"/>
              <a:buNone/>
              <a:defRPr b="0"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18"/>
          <p:cNvSpPr txBox="1">
            <a:spLocks noGrp="1"/>
          </p:cNvSpPr>
          <p:nvPr>
            <p:ph type="body" idx="1"/>
          </p:nvPr>
        </p:nvSpPr>
        <p:spPr>
          <a:xfrm>
            <a:off x="536408" y="1169435"/>
            <a:ext cx="8140628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exend Light"/>
              <a:buNone/>
              <a:defRPr>
                <a:latin typeface="Lexend Light"/>
                <a:ea typeface="Lexend Light"/>
                <a:cs typeface="Lexend Light"/>
                <a:sym typeface="Lexend Light"/>
              </a:defRPr>
            </a:lvl1pPr>
            <a:lvl2pPr marL="914400" lvl="1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exend Light"/>
              <a:buChar char="•"/>
              <a:defRPr>
                <a:latin typeface="Lexend Light"/>
                <a:ea typeface="Lexend Light"/>
                <a:cs typeface="Lexend Light"/>
                <a:sym typeface="Lexend Light"/>
              </a:defRPr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exend Light"/>
              <a:buChar char="o"/>
              <a:defRPr>
                <a:latin typeface="Lexend Light"/>
                <a:ea typeface="Lexend Light"/>
                <a:cs typeface="Lexend Light"/>
                <a:sym typeface="Lexend Light"/>
              </a:defRPr>
            </a:lvl3pPr>
            <a:lvl4pPr marL="1828800" lvl="3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exend Light"/>
              <a:buChar char="–"/>
              <a:defRPr>
                <a:latin typeface="Lexend Light"/>
                <a:ea typeface="Lexend Light"/>
                <a:cs typeface="Lexend Light"/>
                <a:sym typeface="Lexend Light"/>
              </a:defRPr>
            </a:lvl4pPr>
            <a:lvl5pPr marL="2286000" lvl="4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exend Light"/>
              <a:buChar char="»"/>
              <a:defRPr>
                <a:latin typeface="Lexend Light"/>
                <a:ea typeface="Lexend Light"/>
                <a:cs typeface="Lexend Light"/>
                <a:sym typeface="Lexend Light"/>
              </a:defRPr>
            </a:lvl5pPr>
            <a:lvl6pPr marL="2743200" lvl="5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exend Light"/>
              <a:buChar char="•"/>
              <a:defRPr>
                <a:latin typeface="Lexend Light"/>
                <a:ea typeface="Lexend Light"/>
                <a:cs typeface="Lexend Light"/>
                <a:sym typeface="Lexend Light"/>
              </a:defRPr>
            </a:lvl6pPr>
            <a:lvl7pPr marL="3200400" lvl="6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exend Light"/>
              <a:buChar char="•"/>
              <a:defRPr>
                <a:latin typeface="Lexend Light"/>
                <a:ea typeface="Lexend Light"/>
                <a:cs typeface="Lexend Light"/>
                <a:sym typeface="Lexend Light"/>
              </a:defRPr>
            </a:lvl7pPr>
            <a:lvl8pPr marL="3657600" lvl="7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exend Light"/>
              <a:buChar char="•"/>
              <a:defRPr>
                <a:latin typeface="Lexend Light"/>
                <a:ea typeface="Lexend Light"/>
                <a:cs typeface="Lexend Light"/>
                <a:sym typeface="Lexend Light"/>
              </a:defRPr>
            </a:lvl8pPr>
            <a:lvl9pPr marL="4114800" lvl="8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Lexend Light"/>
              <a:buChar char="•"/>
              <a:defRPr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endParaRPr/>
          </a:p>
        </p:txBody>
      </p:sp>
      <p:sp>
        <p:nvSpPr>
          <p:cNvPr id="195" name="Google Shape;195;p18"/>
          <p:cNvSpPr txBox="1">
            <a:spLocks noGrp="1"/>
          </p:cNvSpPr>
          <p:nvPr>
            <p:ph type="sldNum" idx="1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llumn Content">
  <p:cSld name="Two Collumn Conte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6" descr="Picture 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509" y="4720046"/>
            <a:ext cx="320287" cy="340981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6"/>
          <p:cNvSpPr txBox="1"/>
          <p:nvPr/>
        </p:nvSpPr>
        <p:spPr>
          <a:xfrm>
            <a:off x="402969" y="4806163"/>
            <a:ext cx="2581893" cy="165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 STATE LA </a:t>
            </a:r>
            <a:r>
              <a:rPr lang="en-US" sz="600" b="0" i="0" u="none" strike="noStrike" cap="none">
                <a:solidFill>
                  <a:srgbClr val="FCC90A"/>
                </a:solidFill>
                <a:latin typeface="Arial"/>
                <a:ea typeface="Arial"/>
                <a:cs typeface="Arial"/>
                <a:sym typeface="Arial"/>
              </a:rPr>
              <a:t> |   </a:t>
            </a:r>
            <a:r>
              <a:rPr lang="en-US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Department of Computer Science</a:t>
            </a:r>
            <a:endParaRPr/>
          </a:p>
        </p:txBody>
      </p:sp>
      <p:sp>
        <p:nvSpPr>
          <p:cNvPr id="57" name="Google Shape;57;p6"/>
          <p:cNvSpPr txBox="1">
            <a:spLocks noGrp="1"/>
          </p:cNvSpPr>
          <p:nvPr>
            <p:ph type="body" idx="1"/>
          </p:nvPr>
        </p:nvSpPr>
        <p:spPr>
          <a:xfrm>
            <a:off x="536408" y="1200150"/>
            <a:ext cx="3959393" cy="3394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/>
            </a:lvl1pPr>
            <a:lvl2pPr marL="914400" lvl="1" indent="-3619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/>
            </a:lvl2pPr>
            <a:lvl3pPr marL="1371600" lvl="2" indent="-3619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o"/>
              <a:defRPr sz="2100"/>
            </a:lvl3pPr>
            <a:lvl4pPr marL="1828800" lvl="3" indent="-3619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–"/>
              <a:defRPr sz="2100"/>
            </a:lvl4pPr>
            <a:lvl5pPr marL="2286000" lvl="4" indent="-3619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»"/>
              <a:defRPr sz="2100"/>
            </a:lvl5pPr>
            <a:lvl6pPr marL="2743200" lvl="5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6"/>
          <p:cNvSpPr txBox="1">
            <a:spLocks noGrp="1"/>
          </p:cNvSpPr>
          <p:nvPr>
            <p:ph type="sldNum" idx="12"/>
          </p:nvPr>
        </p:nvSpPr>
        <p:spPr>
          <a:xfrm>
            <a:off x="8889161" y="4860076"/>
            <a:ext cx="220004" cy="20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" name="Google Shape;59;p6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60" name="Google Shape;60;p6" descr="Picture 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876602" cy="7642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" name="Google Shape;61;p6"/>
          <p:cNvGrpSpPr/>
          <p:nvPr/>
        </p:nvGrpSpPr>
        <p:grpSpPr>
          <a:xfrm>
            <a:off x="182344" y="104247"/>
            <a:ext cx="570010" cy="4473699"/>
            <a:chOff x="0" y="-1"/>
            <a:chExt cx="570007" cy="4473698"/>
          </a:xfrm>
        </p:grpSpPr>
        <p:pic>
          <p:nvPicPr>
            <p:cNvPr id="62" name="Google Shape;62;p6" descr="Picture 1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0" y="-1"/>
              <a:ext cx="570007" cy="5385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" name="Google Shape;63;p6"/>
            <p:cNvSpPr/>
            <p:nvPr/>
          </p:nvSpPr>
          <p:spPr>
            <a:xfrm rot="5400000">
              <a:off x="-1984249" y="2434583"/>
              <a:ext cx="4023362" cy="54865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95476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 descr="Picture 7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80509" y="4720046"/>
            <a:ext cx="320287" cy="34098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/>
        </p:nvSpPr>
        <p:spPr>
          <a:xfrm>
            <a:off x="402969" y="4806163"/>
            <a:ext cx="2581893" cy="165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 STATE LA </a:t>
            </a:r>
            <a:r>
              <a:rPr lang="en-US" sz="600" b="0" i="0" u="none" strike="noStrike" cap="none">
                <a:solidFill>
                  <a:srgbClr val="FCC90A"/>
                </a:solidFill>
                <a:latin typeface="Arial"/>
                <a:ea typeface="Arial"/>
                <a:cs typeface="Arial"/>
                <a:sym typeface="Arial"/>
              </a:rPr>
              <a:t> |   </a:t>
            </a:r>
            <a:r>
              <a:rPr lang="en-US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Department of Computer Science</a:t>
            </a:r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889161" y="4860076"/>
            <a:ext cx="220004" cy="20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0" name="Google Shape;10;p1" descr="Picture 11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0" y="0"/>
            <a:ext cx="876602" cy="7642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1"/>
          <p:cNvGrpSpPr/>
          <p:nvPr/>
        </p:nvGrpSpPr>
        <p:grpSpPr>
          <a:xfrm>
            <a:off x="182344" y="104247"/>
            <a:ext cx="570010" cy="4473699"/>
            <a:chOff x="0" y="-1"/>
            <a:chExt cx="570007" cy="4473698"/>
          </a:xfrm>
        </p:grpSpPr>
        <p:pic>
          <p:nvPicPr>
            <p:cNvPr id="12" name="Google Shape;12;p1" descr="Picture 12"/>
            <p:cNvPicPr preferRelativeResize="0"/>
            <p:nvPr/>
          </p:nvPicPr>
          <p:blipFill rotWithShape="1">
            <a:blip r:embed="rId20">
              <a:alphaModFix/>
            </a:blip>
            <a:srcRect/>
            <a:stretch/>
          </p:blipFill>
          <p:spPr>
            <a:xfrm>
              <a:off x="0" y="-1"/>
              <a:ext cx="570007" cy="5385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13;p1"/>
            <p:cNvSpPr/>
            <p:nvPr/>
          </p:nvSpPr>
          <p:spPr>
            <a:xfrm rot="5400000">
              <a:off x="-1984249" y="2434583"/>
              <a:ext cx="4023362" cy="54865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" name="Google Shape;14;p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65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65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o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65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–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65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»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65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65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65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65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  <p:sldLayoutId id="2147483649" r:id="rId2"/>
    <p:sldLayoutId id="2147483650" r:id="rId3"/>
    <p:sldLayoutId id="2147483669" r:id="rId4"/>
    <p:sldLayoutId id="2147483651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9" r:id="rId11"/>
    <p:sldLayoutId id="2147483660" r:id="rId12"/>
    <p:sldLayoutId id="2147483661" r:id="rId13"/>
    <p:sldLayoutId id="2147483662" r:id="rId14"/>
    <p:sldLayoutId id="2147483664" r:id="rId15"/>
    <p:sldLayoutId id="2147483668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my.clevelandclinic.org/health/diseases/4375-lung-cancer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jp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>
          <a:extLst>
            <a:ext uri="{FF2B5EF4-FFF2-40B4-BE49-F238E27FC236}">
              <a16:creationId xmlns:a16="http://schemas.microsoft.com/office/drawing/2014/main" id="{B54B4729-A5CF-5AB5-51BD-8835B3F2C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1">
            <a:extLst>
              <a:ext uri="{FF2B5EF4-FFF2-40B4-BE49-F238E27FC236}">
                <a16:creationId xmlns:a16="http://schemas.microsoft.com/office/drawing/2014/main" id="{83AA7EB3-1619-C913-F9CB-756EDBB394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2760" y="2143595"/>
            <a:ext cx="8038476" cy="1244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3200" dirty="0">
                <a:solidFill>
                  <a:srgbClr val="000000"/>
                </a:solidFill>
                <a:latin typeface="+mj-lt"/>
              </a:rPr>
              <a:t>Integration of Imaging Features and Clinical Features for Early Detection of Lung Cancer</a:t>
            </a:r>
            <a:endParaRPr lang="en-US" sz="3200" b="0" dirty="0">
              <a:latin typeface="+mj-lt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1">
            <a:extLst>
              <a:ext uri="{FF2B5EF4-FFF2-40B4-BE49-F238E27FC236}">
                <a16:creationId xmlns:a16="http://schemas.microsoft.com/office/drawing/2014/main" id="{9E03C125-B491-A20F-FCE2-DF78A0CF037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-US" sz="900">
                <a:solidFill>
                  <a:srgbClr val="888888"/>
                </a:solidFill>
              </a:rPr>
              <a:t>1</a:t>
            </a:fld>
            <a:endParaRPr/>
          </a:p>
        </p:txBody>
      </p:sp>
      <p:sp>
        <p:nvSpPr>
          <p:cNvPr id="2" name="Google Shape;216;p21">
            <a:extLst>
              <a:ext uri="{FF2B5EF4-FFF2-40B4-BE49-F238E27FC236}">
                <a16:creationId xmlns:a16="http://schemas.microsoft.com/office/drawing/2014/main" id="{4245EF4D-1FDB-95FC-960B-78ED13060694}"/>
              </a:ext>
            </a:extLst>
          </p:cNvPr>
          <p:cNvSpPr txBox="1">
            <a:spLocks/>
          </p:cNvSpPr>
          <p:nvPr/>
        </p:nvSpPr>
        <p:spPr>
          <a:xfrm>
            <a:off x="767602" y="3773502"/>
            <a:ext cx="7608793" cy="1082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2400"/>
            </a:pPr>
            <a:r>
              <a:rPr lang="en-US" sz="2400" b="0" dirty="0">
                <a:latin typeface="+mn-lt"/>
                <a:ea typeface="Lexend"/>
                <a:cs typeface="Lexend"/>
                <a:sym typeface="Lexend"/>
              </a:rPr>
              <a:t>Leonard Garcia</a:t>
            </a:r>
          </a:p>
        </p:txBody>
      </p:sp>
    </p:spTree>
    <p:extLst>
      <p:ext uri="{BB962C8B-B14F-4D97-AF65-F5344CB8AC3E}">
        <p14:creationId xmlns:p14="http://schemas.microsoft.com/office/powerpoint/2010/main" val="1846086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6C7CA-E0B7-E4A6-9446-280D33708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8914A-B356-94BA-E284-B2F6A03BB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D9F689-5FA5-0598-1FB4-15FCB5096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6408" y="1177747"/>
            <a:ext cx="4233712" cy="3394473"/>
          </a:xfrm>
        </p:spPr>
        <p:txBody>
          <a:bodyPr/>
          <a:lstStyle/>
          <a:p>
            <a:pPr marL="514350" indent="-285750">
              <a:buFont typeface="Wingdings" panose="05000000000000000000" pitchFamily="2" charset="2"/>
              <a:buChar char="§"/>
            </a:pPr>
            <a:r>
              <a:rPr lang="en-US" sz="1800" dirty="0"/>
              <a:t>Background &amp; Motivation</a:t>
            </a:r>
          </a:p>
          <a:p>
            <a:pPr marL="514350" indent="-285750">
              <a:buFont typeface="Wingdings" panose="05000000000000000000" pitchFamily="2" charset="2"/>
              <a:buChar char="§"/>
            </a:pPr>
            <a:r>
              <a:rPr lang="en-US" sz="1800" dirty="0"/>
              <a:t>Project Objectives</a:t>
            </a:r>
          </a:p>
          <a:p>
            <a:pPr marL="514350" indent="-285750">
              <a:buFont typeface="Wingdings" panose="05000000000000000000" pitchFamily="2" charset="2"/>
              <a:buChar char="§"/>
            </a:pPr>
            <a:r>
              <a:rPr lang="en-US" sz="1800" dirty="0"/>
              <a:t>Data &amp; Methods</a:t>
            </a:r>
          </a:p>
          <a:p>
            <a:pPr marL="514350" indent="-285750">
              <a:buFont typeface="Wingdings" panose="05000000000000000000" pitchFamily="2" charset="2"/>
              <a:buChar char="§"/>
            </a:pPr>
            <a:r>
              <a:rPr lang="en-US" sz="1800" dirty="0"/>
              <a:t>Summary of Results</a:t>
            </a:r>
          </a:p>
          <a:p>
            <a:pPr marL="514350" indent="-285750">
              <a:buFont typeface="Wingdings" panose="05000000000000000000" pitchFamily="2" charset="2"/>
              <a:buChar char="§"/>
            </a:pPr>
            <a:r>
              <a:rPr lang="en-US" sz="1800" dirty="0"/>
              <a:t>Conclusions &amp; Future Work</a:t>
            </a:r>
          </a:p>
          <a:p>
            <a:pPr marL="514350" indent="-285750"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1DC37-938F-3E8B-E8C9-3257AADF544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010400" y="4864099"/>
            <a:ext cx="2133600" cy="279401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359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78CC1-D4C1-9F2A-4F21-FCBE2B1F6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C8102-0528-0A99-C6B2-6D9B20A3D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79829-80A1-B266-B304-156E2AA4AA4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010400" y="4864099"/>
            <a:ext cx="2133600" cy="279401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E8BBE44-5582-37F2-4849-FB88B0B8D0DE}"/>
              </a:ext>
            </a:extLst>
          </p:cNvPr>
          <p:cNvSpPr txBox="1">
            <a:spLocks/>
          </p:cNvSpPr>
          <p:nvPr/>
        </p:nvSpPr>
        <p:spPr>
          <a:xfrm>
            <a:off x="233569" y="1177747"/>
            <a:ext cx="4994413" cy="3394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o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–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14350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Lung cancer is a condition where cells in the lung grow uncontrollably and form a tumor</a:t>
            </a:r>
          </a:p>
          <a:p>
            <a:pPr marL="514350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Leading cause of cancer death in the United States </a:t>
            </a:r>
          </a:p>
          <a:p>
            <a:pPr marL="971550" lvl="1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22% of all cancer deaths </a:t>
            </a:r>
            <a:r>
              <a:rPr lang="en-US" sz="1800" dirty="0">
                <a:latin typeface="+mj-lt"/>
                <a:cs typeface="Arial" panose="020B0604020202020204" pitchFamily="34" charset="0"/>
              </a:rPr>
              <a:t> </a:t>
            </a:r>
            <a:endParaRPr lang="en-US" sz="1800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514350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dk1"/>
                </a:solidFill>
                <a:latin typeface="+mj-lt"/>
                <a:cs typeface="Calibri"/>
                <a:sym typeface="Calibri"/>
              </a:rPr>
              <a:t>Early detection </a:t>
            </a:r>
            <a:r>
              <a:rPr lang="en-US" sz="1800" dirty="0">
                <a:solidFill>
                  <a:schemeClr val="dk1"/>
                </a:solidFill>
                <a:latin typeface="+mj-lt"/>
                <a:cs typeface="Arial" panose="020B0604020202020204" pitchFamily="34" charset="0"/>
                <a:sym typeface="Calibri"/>
              </a:rPr>
              <a:t>important for treatment outcomes</a:t>
            </a:r>
            <a:endParaRPr lang="en-US" sz="1800" dirty="0">
              <a:latin typeface="+mj-lt"/>
              <a:cs typeface="Arial" panose="020B0604020202020204" pitchFamily="34" charset="0"/>
            </a:endParaRPr>
          </a:p>
          <a:p>
            <a:pPr marL="971550" lvl="1" indent="-285750">
              <a:buFont typeface="Wingdings" panose="05000000000000000000" pitchFamily="2" charset="2"/>
              <a:buChar char="§"/>
            </a:pPr>
            <a:r>
              <a:rPr lang="en-US" sz="1800" dirty="0">
                <a:latin typeface="+mj-lt"/>
                <a:cs typeface="Arial" panose="020B0604020202020204" pitchFamily="34" charset="0"/>
              </a:rPr>
              <a:t>5-year survival rate for early detection about 70%</a:t>
            </a:r>
          </a:p>
          <a:p>
            <a:pPr marL="971550" lvl="1" indent="-285750">
              <a:buFont typeface="Wingdings" panose="05000000000000000000" pitchFamily="2" charset="2"/>
              <a:buChar char="§"/>
            </a:pPr>
            <a:r>
              <a:rPr lang="en-US" sz="1800" dirty="0">
                <a:latin typeface="+mj-lt"/>
                <a:cs typeface="Arial" panose="020B0604020202020204" pitchFamily="34" charset="0"/>
              </a:rPr>
              <a:t>5-year survival rate when advanced less than 10%</a:t>
            </a:r>
          </a:p>
          <a:p>
            <a:pPr marL="228600" indent="0"/>
            <a:endParaRPr lang="en-US" sz="1800" dirty="0">
              <a:solidFill>
                <a:schemeClr val="dk1"/>
              </a:solidFill>
              <a:latin typeface="+mj-lt"/>
              <a:cs typeface="Calibri"/>
              <a:sym typeface="Calibri"/>
            </a:endParaRPr>
          </a:p>
          <a:p>
            <a:pPr marL="514350" indent="-285750">
              <a:buFont typeface="Wingdings" panose="05000000000000000000" pitchFamily="2" charset="2"/>
              <a:buChar char="§"/>
            </a:pPr>
            <a:endParaRPr lang="en-US" dirty="0">
              <a:latin typeface="+mj-lt"/>
            </a:endParaRPr>
          </a:p>
        </p:txBody>
      </p:sp>
      <p:pic>
        <p:nvPicPr>
          <p:cNvPr id="5" name="Picture 4" descr="A diagram of a lung cancer&#10;&#10;Description automatically generated">
            <a:extLst>
              <a:ext uri="{FF2B5EF4-FFF2-40B4-BE49-F238E27FC236}">
                <a16:creationId xmlns:a16="http://schemas.microsoft.com/office/drawing/2014/main" id="{EB416838-AFFB-C3F0-C8F6-9A2CB5724B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654"/>
          <a:stretch/>
        </p:blipFill>
        <p:spPr>
          <a:xfrm>
            <a:off x="5809349" y="892037"/>
            <a:ext cx="2785016" cy="30687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0726C0-9ACA-E448-192A-BF0E6C1EB63D}"/>
              </a:ext>
            </a:extLst>
          </p:cNvPr>
          <p:cNvSpPr txBox="1"/>
          <p:nvPr/>
        </p:nvSpPr>
        <p:spPr>
          <a:xfrm>
            <a:off x="5809349" y="4129709"/>
            <a:ext cx="27850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Taken from:</a:t>
            </a:r>
          </a:p>
          <a:p>
            <a:pPr algn="ctr"/>
            <a:r>
              <a:rPr lang="en-US" sz="800" dirty="0">
                <a:hlinkClick r:id="rId4"/>
              </a:rPr>
              <a:t>https://my.clevelandclinic.org/health</a:t>
            </a:r>
            <a:r>
              <a:rPr lang="en-US" sz="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17977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8BF8F-B426-D9BC-85C7-5FED067F9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Lung Cancer </a:t>
            </a:r>
            <a:r>
              <a:rPr lang="en-US" sz="2400" dirty="0">
                <a:solidFill>
                  <a:schemeClr val="dk1"/>
                </a:solidFill>
                <a:latin typeface="+mj-lt"/>
                <a:cs typeface="Arial" panose="020B0604020202020204" pitchFamily="34" charset="0"/>
                <a:sym typeface="Calibri"/>
              </a:rPr>
              <a:t>Risk Prediction Models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8E9F55-5B30-605D-73D9-EA33681C8F5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010400" y="4864099"/>
            <a:ext cx="2133600" cy="279401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90A6465-13A4-80C8-4E3A-2263A25FF15D}"/>
              </a:ext>
            </a:extLst>
          </p:cNvPr>
          <p:cNvSpPr txBox="1">
            <a:spLocks/>
          </p:cNvSpPr>
          <p:nvPr/>
        </p:nvSpPr>
        <p:spPr>
          <a:xfrm>
            <a:off x="233569" y="1177747"/>
            <a:ext cx="4984474" cy="3394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o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–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14350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dk1"/>
                </a:solidFill>
                <a:latin typeface="+mj-lt"/>
                <a:cs typeface="Arial" panose="020B0604020202020204" pitchFamily="34" charset="0"/>
                <a:sym typeface="Calibri"/>
              </a:rPr>
              <a:t>Tools to estimate likelihood of developing lung cancer</a:t>
            </a:r>
          </a:p>
          <a:p>
            <a:pPr marL="514350" indent="-285750">
              <a:buFont typeface="Wingdings" panose="05000000000000000000" pitchFamily="2" charset="2"/>
              <a:buChar char="§"/>
            </a:pPr>
            <a:r>
              <a:rPr lang="en-US" sz="1800" dirty="0"/>
              <a:t>Clinical risk models</a:t>
            </a:r>
          </a:p>
          <a:p>
            <a:pPr marL="971550" lvl="1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dk1"/>
                </a:solidFill>
                <a:latin typeface="+mj-lt"/>
                <a:cs typeface="Arial" panose="020B0604020202020204" pitchFamily="34" charset="0"/>
                <a:sym typeface="Calibri"/>
              </a:rPr>
              <a:t>Use personal data (age, smoking history, etc.) to estimate risk</a:t>
            </a:r>
            <a:endParaRPr lang="en-US" sz="1800" dirty="0">
              <a:solidFill>
                <a:schemeClr val="dk1"/>
              </a:solidFill>
              <a:latin typeface="+mj-lt"/>
              <a:cs typeface="Calibri"/>
              <a:sym typeface="Calibri"/>
            </a:endParaRPr>
          </a:p>
          <a:p>
            <a:pPr marL="514350" indent="-285750">
              <a:buFont typeface="Wingdings" panose="05000000000000000000" pitchFamily="2" charset="2"/>
              <a:buChar char="§"/>
            </a:pPr>
            <a:r>
              <a:rPr lang="en-US" sz="1800" dirty="0"/>
              <a:t>Imaging models</a:t>
            </a:r>
          </a:p>
          <a:p>
            <a:pPr marL="971550" lvl="1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dk1"/>
                </a:solidFill>
                <a:latin typeface="+mj-lt"/>
                <a:cs typeface="Calibri"/>
                <a:sym typeface="Calibri"/>
              </a:rPr>
              <a:t>Look directly at lung scans to detect early signs of cancer</a:t>
            </a:r>
          </a:p>
          <a:p>
            <a:pPr marL="514350" indent="-285750">
              <a:buFont typeface="Wingdings" panose="05000000000000000000" pitchFamily="2" charset="2"/>
              <a:buChar char="§"/>
            </a:pPr>
            <a:endParaRPr lang="en-US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E04C84-64E3-D72B-AF1B-8028956675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1891" y="666261"/>
            <a:ext cx="1648430" cy="35780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EB1196-DF77-C0C0-1007-295AE803BA3C}"/>
              </a:ext>
            </a:extLst>
          </p:cNvPr>
          <p:cNvSpPr txBox="1"/>
          <p:nvPr/>
        </p:nvSpPr>
        <p:spPr>
          <a:xfrm>
            <a:off x="6133598" y="4244348"/>
            <a:ext cx="27850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A simple lung cancer risk model framework</a:t>
            </a:r>
          </a:p>
        </p:txBody>
      </p:sp>
    </p:spTree>
    <p:extLst>
      <p:ext uri="{BB962C8B-B14F-4D97-AF65-F5344CB8AC3E}">
        <p14:creationId xmlns:p14="http://schemas.microsoft.com/office/powerpoint/2010/main" val="3569534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D651A-8CA3-13E8-D5BF-3DC979F57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3277D-D074-30E2-0790-7194B272D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PLCOm2012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DEA46C-C64B-3BDD-A693-E5C56998A81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010400" y="4864099"/>
            <a:ext cx="2133600" cy="279401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305D303-4288-ABC3-2DED-B198DE501B91}"/>
              </a:ext>
            </a:extLst>
          </p:cNvPr>
          <p:cNvSpPr txBox="1">
            <a:spLocks/>
          </p:cNvSpPr>
          <p:nvPr/>
        </p:nvSpPr>
        <p:spPr>
          <a:xfrm>
            <a:off x="233569" y="1177747"/>
            <a:ext cx="4263888" cy="3394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o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–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14350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dk1"/>
                </a:solidFill>
                <a:latin typeface="+mj-lt"/>
                <a:cs typeface="Arial" panose="020B0604020202020204" pitchFamily="34" charset="0"/>
                <a:sym typeface="Calibri"/>
              </a:rPr>
              <a:t>Clinical model</a:t>
            </a:r>
          </a:p>
          <a:p>
            <a:pPr marL="514350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dk1"/>
                </a:solidFill>
                <a:latin typeface="+mj-lt"/>
                <a:cs typeface="Arial" panose="020B0604020202020204" pitchFamily="34" charset="0"/>
                <a:sym typeface="Calibri"/>
              </a:rPr>
              <a:t>Developed by Dr. Martin C. </a:t>
            </a:r>
            <a:r>
              <a:rPr lang="en-US" sz="1800" dirty="0" err="1">
                <a:solidFill>
                  <a:schemeClr val="dk1"/>
                </a:solidFill>
                <a:latin typeface="+mj-lt"/>
                <a:cs typeface="Arial" panose="020B0604020202020204" pitchFamily="34" charset="0"/>
                <a:sym typeface="Calibri"/>
              </a:rPr>
              <a:t>Tammemägi</a:t>
            </a:r>
            <a:r>
              <a:rPr lang="en-US" sz="1800" dirty="0">
                <a:solidFill>
                  <a:schemeClr val="dk1"/>
                </a:solidFill>
                <a:latin typeface="+mj-lt"/>
                <a:cs typeface="Arial" panose="020B0604020202020204" pitchFamily="34" charset="0"/>
                <a:sym typeface="Calibri"/>
              </a:rPr>
              <a:t> of Brock University [1]</a:t>
            </a:r>
          </a:p>
          <a:p>
            <a:pPr marL="514350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dk1"/>
                </a:solidFill>
                <a:latin typeface="+mj-lt"/>
                <a:cs typeface="Arial" panose="020B0604020202020204" pitchFamily="34" charset="0"/>
                <a:sym typeface="Calibri"/>
              </a:rPr>
              <a:t>Used data from Prostate, Lung, Colorectal, and Ovarian (PLCO) Cancer Screening Trial</a:t>
            </a:r>
          </a:p>
          <a:p>
            <a:pPr marL="514350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dk1"/>
                </a:solidFill>
                <a:latin typeface="+mj-lt"/>
                <a:cs typeface="Arial" panose="020B0604020202020204" pitchFamily="34" charset="0"/>
                <a:sym typeface="Calibri"/>
              </a:rPr>
              <a:t>Uses personal and health-related factors to estimate 6-year lung cancer risk</a:t>
            </a:r>
          </a:p>
          <a:p>
            <a:pPr marL="228600" indent="0"/>
            <a:endParaRPr lang="en-US" dirty="0"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95BEF2-51D0-C89B-3AC5-FE4B07ABC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665" y="550621"/>
            <a:ext cx="2843470" cy="36337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55336D5-B37B-F581-A83C-1B51FA4A83FC}"/>
              </a:ext>
            </a:extLst>
          </p:cNvPr>
          <p:cNvSpPr txBox="1"/>
          <p:nvPr/>
        </p:nvSpPr>
        <p:spPr>
          <a:xfrm>
            <a:off x="5588665" y="4184375"/>
            <a:ext cx="27850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Factors used to calculate lung cancer risk</a:t>
            </a:r>
          </a:p>
        </p:txBody>
      </p:sp>
    </p:spTree>
    <p:extLst>
      <p:ext uri="{BB962C8B-B14F-4D97-AF65-F5344CB8AC3E}">
        <p14:creationId xmlns:p14="http://schemas.microsoft.com/office/powerpoint/2010/main" val="2990689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B7C5B-4BD1-B6A9-A47D-7185ECE6A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4F8B2-F7C2-2DC8-0E85-3477FF2C5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Sybil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CE2F97-2525-B7D6-4035-BD567072D8E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010400" y="4864099"/>
            <a:ext cx="2133600" cy="279401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477A67F-B26B-5997-20EF-D435BCEFD69C}"/>
              </a:ext>
            </a:extLst>
          </p:cNvPr>
          <p:cNvSpPr txBox="1">
            <a:spLocks/>
          </p:cNvSpPr>
          <p:nvPr/>
        </p:nvSpPr>
        <p:spPr>
          <a:xfrm>
            <a:off x="233569" y="1177747"/>
            <a:ext cx="4263888" cy="3394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o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–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14350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dk1"/>
                </a:solidFill>
                <a:latin typeface="+mj-lt"/>
                <a:cs typeface="Arial" panose="020B0604020202020204" pitchFamily="34" charset="0"/>
                <a:sym typeface="Calibri"/>
              </a:rPr>
              <a:t>Deep learning-based imaging model </a:t>
            </a:r>
          </a:p>
          <a:p>
            <a:pPr marL="514350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dk1"/>
                </a:solidFill>
                <a:latin typeface="+mj-lt"/>
                <a:cs typeface="Arial" panose="020B0604020202020204" pitchFamily="34" charset="0"/>
                <a:sym typeface="Calibri"/>
              </a:rPr>
              <a:t>Developed by Massachusetts Institute of Technology (MIT) with Massachusetts General Hospital (MGH) in 2022 [2]</a:t>
            </a:r>
          </a:p>
          <a:p>
            <a:pPr marL="514350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dk1"/>
                </a:solidFill>
                <a:latin typeface="+mj-lt"/>
                <a:cs typeface="Arial" panose="020B0604020202020204" pitchFamily="34" charset="0"/>
                <a:sym typeface="Calibri"/>
              </a:rPr>
              <a:t>Predicts 6-year lung cancer risk from a single low-dose computed tomography (LDCT) scan</a:t>
            </a:r>
          </a:p>
          <a:p>
            <a:pPr marL="228600" indent="0"/>
            <a:endParaRPr lang="en-US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76CCCE-903C-EAE4-F5BE-DE9DF9022CE9}"/>
              </a:ext>
            </a:extLst>
          </p:cNvPr>
          <p:cNvSpPr txBox="1"/>
          <p:nvPr/>
        </p:nvSpPr>
        <p:spPr>
          <a:xfrm>
            <a:off x="5754757" y="3342740"/>
            <a:ext cx="315567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Architecture of Sybil [2]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35DE84-1878-0189-5969-30DDCB7D7A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2880"/>
          <a:stretch/>
        </p:blipFill>
        <p:spPr>
          <a:xfrm>
            <a:off x="4646546" y="1177746"/>
            <a:ext cx="4354944" cy="208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39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8BF8F-B426-D9BC-85C7-5FED067F9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C1D42-6C29-B2EF-AF2C-2E3319B7C1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514350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Develop multimodal machine learning algorithms that integrate both imaging features with clinical features to enhance lung cancer risk prediction</a:t>
            </a:r>
          </a:p>
          <a:p>
            <a:pPr marL="971550" lvl="1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Imaging features extracted using Sybil</a:t>
            </a:r>
          </a:p>
          <a:p>
            <a:pPr marL="971550" lvl="1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Clinical features based on PLCO risk prediction model</a:t>
            </a:r>
          </a:p>
          <a:p>
            <a:pPr marL="971550" lvl="1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dk1"/>
                </a:solidFill>
                <a:latin typeface="+mj-lt"/>
                <a:cs typeface="Calibri"/>
                <a:sym typeface="Calibri"/>
              </a:rPr>
              <a:t>Train models to predict risk of developing lung cancer within one year </a:t>
            </a:r>
            <a:endParaRPr lang="en-US" dirty="0">
              <a:latin typeface="+mj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CE3AE7-95FD-65E4-03F9-30396CEDA61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010400" y="4849079"/>
            <a:ext cx="2133600" cy="279401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370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8BF8F-B426-D9BC-85C7-5FED067F9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C1D42-6C29-B2EF-AF2C-2E3319B7C1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5143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6F960-3A13-3582-1053-323288C56DA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010400" y="4852744"/>
            <a:ext cx="2133600" cy="279401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5762E46-ABBF-CC69-64B8-70326D1B7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5644" y="629661"/>
            <a:ext cx="5392711" cy="3884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708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EA4E1-F376-C34D-026F-5F7A5DA47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DD022-08BF-6429-86E3-A816E9FD1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Data: CT Scans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781B52B-0079-C9F5-A4CB-DF077AA0C01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010400" y="4864099"/>
            <a:ext cx="2133600" cy="279401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7F30E48-95D9-D800-49F4-7BC59D6D6C9F}"/>
              </a:ext>
            </a:extLst>
          </p:cNvPr>
          <p:cNvSpPr txBox="1">
            <a:spLocks/>
          </p:cNvSpPr>
          <p:nvPr/>
        </p:nvSpPr>
        <p:spPr>
          <a:xfrm>
            <a:off x="253448" y="1341121"/>
            <a:ext cx="4243601" cy="2569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o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–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14350" indent="-285750">
              <a:buFont typeface="Wingdings" panose="05000000000000000000" pitchFamily="2" charset="2"/>
              <a:buChar char="§"/>
            </a:pPr>
            <a:r>
              <a:rPr lang="en-US" sz="1800" dirty="0"/>
              <a:t>CT (Computed Tomography) scans use X-rays to create detailed cross-sectional images of the body</a:t>
            </a:r>
          </a:p>
          <a:p>
            <a:pPr marL="514350" indent="-285750">
              <a:buFont typeface="Wingdings" panose="05000000000000000000" pitchFamily="2" charset="2"/>
              <a:buChar char="§"/>
            </a:pPr>
            <a:r>
              <a:rPr lang="en-US" sz="1800" dirty="0"/>
              <a:t>Physicians use these images to diagnose various conditions</a:t>
            </a:r>
          </a:p>
        </p:txBody>
      </p:sp>
      <p:pic>
        <p:nvPicPr>
          <p:cNvPr id="1026" name="Picture 2" descr="IMG-0001-00043">
            <a:extLst>
              <a:ext uri="{FF2B5EF4-FFF2-40B4-BE49-F238E27FC236}">
                <a16:creationId xmlns:a16="http://schemas.microsoft.com/office/drawing/2014/main" id="{5F78CA38-7035-9BEE-9639-B0906539C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0884" y="1103396"/>
            <a:ext cx="2936708" cy="2936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17DE35-92EA-E2ED-F71D-3AE8E65A074A}"/>
              </a:ext>
            </a:extLst>
          </p:cNvPr>
          <p:cNvSpPr txBox="1"/>
          <p:nvPr/>
        </p:nvSpPr>
        <p:spPr>
          <a:xfrm>
            <a:off x="5670884" y="4048613"/>
            <a:ext cx="29367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Example of a CT scan of a lung</a:t>
            </a:r>
          </a:p>
        </p:txBody>
      </p:sp>
    </p:spTree>
    <p:extLst>
      <p:ext uri="{BB962C8B-B14F-4D97-AF65-F5344CB8AC3E}">
        <p14:creationId xmlns:p14="http://schemas.microsoft.com/office/powerpoint/2010/main" val="2640428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8BF8F-B426-D9BC-85C7-5FED067F9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Data: DICOM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C1D42-6C29-B2EF-AF2C-2E3319B7C1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5143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6F960-3A13-3582-1053-323288C56DA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010400" y="4858524"/>
            <a:ext cx="2133600" cy="279401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3780201-3F8F-F483-70EE-60AAA75B4149}"/>
              </a:ext>
            </a:extLst>
          </p:cNvPr>
          <p:cNvSpPr txBox="1">
            <a:spLocks/>
          </p:cNvSpPr>
          <p:nvPr/>
        </p:nvSpPr>
        <p:spPr>
          <a:xfrm>
            <a:off x="253448" y="1341120"/>
            <a:ext cx="4359775" cy="3231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o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–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14350" indent="-285750">
              <a:buFont typeface="Wingdings" panose="05000000000000000000" pitchFamily="2" charset="2"/>
              <a:buChar char="§"/>
            </a:pPr>
            <a:r>
              <a:rPr lang="en-US" sz="1800" dirty="0"/>
              <a:t>DICOM (Digital Imaging and Communications in Medicine) </a:t>
            </a:r>
          </a:p>
          <a:p>
            <a:pPr marL="971550" lvl="1" indent="-285750">
              <a:buFont typeface="Wingdings" panose="05000000000000000000" pitchFamily="2" charset="2"/>
              <a:buChar char="§"/>
            </a:pPr>
            <a:r>
              <a:rPr lang="en-US" sz="1800" dirty="0"/>
              <a:t>Standard for medical imaging information</a:t>
            </a:r>
          </a:p>
          <a:p>
            <a:pPr marL="514350" indent="-285750">
              <a:buFont typeface="Wingdings" panose="05000000000000000000" pitchFamily="2" charset="2"/>
              <a:buChar char="§"/>
            </a:pPr>
            <a:r>
              <a:rPr lang="en-US" sz="1800" dirty="0"/>
              <a:t>Includes both the medical image and metadata </a:t>
            </a:r>
          </a:p>
          <a:p>
            <a:pPr marL="971550" lvl="1" indent="-285750">
              <a:buFont typeface="Wingdings" panose="05000000000000000000" pitchFamily="2" charset="2"/>
              <a:buChar char="§"/>
            </a:pPr>
            <a:r>
              <a:rPr lang="en-US" sz="1800" dirty="0"/>
              <a:t>Pixel data</a:t>
            </a:r>
          </a:p>
          <a:p>
            <a:pPr marL="971550" lvl="1" indent="-285750">
              <a:buFont typeface="Wingdings" panose="05000000000000000000" pitchFamily="2" charset="2"/>
              <a:buChar char="§"/>
            </a:pPr>
            <a:r>
              <a:rPr lang="en-US" sz="1800" dirty="0"/>
              <a:t>Structured information about patient and imaging procedure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6A7BE9-3B26-DA01-9C2E-DE79759D4084}"/>
              </a:ext>
            </a:extLst>
          </p:cNvPr>
          <p:cNvSpPr txBox="1"/>
          <p:nvPr/>
        </p:nvSpPr>
        <p:spPr>
          <a:xfrm>
            <a:off x="5008412" y="4435342"/>
            <a:ext cx="39677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Example of a DICOM file and associated metadata</a:t>
            </a:r>
          </a:p>
        </p:txBody>
      </p:sp>
      <p:pic>
        <p:nvPicPr>
          <p:cNvPr id="8" name="Picture 7" descr="A close-up of a x-ray&#10;&#10;AI-generated content may be incorrect.">
            <a:extLst>
              <a:ext uri="{FF2B5EF4-FFF2-40B4-BE49-F238E27FC236}">
                <a16:creationId xmlns:a16="http://schemas.microsoft.com/office/drawing/2014/main" id="{62620084-8F69-3B15-909F-606B6282E0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516"/>
          <a:stretch>
            <a:fillRect/>
          </a:stretch>
        </p:blipFill>
        <p:spPr>
          <a:xfrm>
            <a:off x="5105888" y="1023079"/>
            <a:ext cx="3772776" cy="3329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417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8E0BA-642E-E7BF-3672-FE3843A7F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F71A6-8BFF-06C0-85EE-A50CB7BDF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Selection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DDC22D-440E-D8B8-5094-F1DD9D2892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6408" y="1177747"/>
            <a:ext cx="4035592" cy="3394473"/>
          </a:xfrm>
        </p:spPr>
        <p:txBody>
          <a:bodyPr>
            <a:normAutofit/>
          </a:bodyPr>
          <a:lstStyle/>
          <a:p>
            <a:pPr marL="514350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Selected the most recent scan per patient </a:t>
            </a:r>
          </a:p>
          <a:p>
            <a:pPr marL="514350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Chose scans for consistency across parameters</a:t>
            </a:r>
          </a:p>
          <a:p>
            <a:pPr marL="971550" lvl="1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Orientation</a:t>
            </a:r>
          </a:p>
          <a:p>
            <a:pPr marL="971550" lvl="1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Slice Thickness</a:t>
            </a:r>
          </a:p>
          <a:p>
            <a:pPr marL="971550" lvl="1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Convolution Kernal</a:t>
            </a:r>
          </a:p>
          <a:p>
            <a:pPr marL="514350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Ensured standardized imaging inputs for model training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AB56A4-72D1-DCCA-0BBE-BEC6573FEFF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010400" y="4807444"/>
            <a:ext cx="2133600" cy="279401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E91AB4CF-9569-9ED2-FA49-2B6EFA6FCC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0378" y="1239030"/>
            <a:ext cx="3905250" cy="188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72932C1-B885-C0D8-1FE5-9E50B557E6F8}"/>
              </a:ext>
            </a:extLst>
          </p:cNvPr>
          <p:cNvSpPr txBox="1"/>
          <p:nvPr/>
        </p:nvSpPr>
        <p:spPr>
          <a:xfrm>
            <a:off x="5384649" y="3161401"/>
            <a:ext cx="29367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CT images reconstructed with different convolution kernels</a:t>
            </a:r>
          </a:p>
        </p:txBody>
      </p:sp>
    </p:spTree>
    <p:extLst>
      <p:ext uri="{BB962C8B-B14F-4D97-AF65-F5344CB8AC3E}">
        <p14:creationId xmlns:p14="http://schemas.microsoft.com/office/powerpoint/2010/main" val="16088706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99E73-44FB-090A-C77D-A2043D1C6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71B6B-B773-8682-DACB-656B76878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Extraction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30ACC9-A39E-DAE3-150E-8B16F85C47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5143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BB77F5-C576-0AA8-97F4-D42B6A8FB44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010400" y="4837570"/>
            <a:ext cx="2133600" cy="279401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DD40C2-FBCE-5E57-1AFB-A8CB7288D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4694" y="1111951"/>
            <a:ext cx="5735259" cy="13674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C689885-9CDC-D36C-7375-6DDACCBD8D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2316" y="2926961"/>
            <a:ext cx="5707637" cy="140357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B4D2CD7-99A2-0F65-5EAA-2A5F7737ECEF}"/>
              </a:ext>
            </a:extLst>
          </p:cNvPr>
          <p:cNvSpPr txBox="1"/>
          <p:nvPr/>
        </p:nvSpPr>
        <p:spPr>
          <a:xfrm>
            <a:off x="3204022" y="2445121"/>
            <a:ext cx="315567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Original Sybil architecture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5603A5-5FB2-4513-AD85-CAFFBB604C84}"/>
              </a:ext>
            </a:extLst>
          </p:cNvPr>
          <p:cNvSpPr txBox="1"/>
          <p:nvPr/>
        </p:nvSpPr>
        <p:spPr>
          <a:xfrm>
            <a:off x="3258297" y="4330540"/>
            <a:ext cx="315567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Modified Sybil architecture</a:t>
            </a:r>
          </a:p>
        </p:txBody>
      </p:sp>
    </p:spTree>
    <p:extLst>
      <p:ext uri="{BB962C8B-B14F-4D97-AF65-F5344CB8AC3E}">
        <p14:creationId xmlns:p14="http://schemas.microsoft.com/office/powerpoint/2010/main" val="19525455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8BF8F-B426-D9BC-85C7-5FED067F9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Extraction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C1D42-6C29-B2EF-AF2C-2E3319B7C1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5143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3ADD5E-7A92-8B71-C3BF-E38D88A958E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010400" y="4864099"/>
            <a:ext cx="2133600" cy="279401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490BC0C-C4B3-8C9E-0DC8-DEC2B62E2F11}"/>
              </a:ext>
            </a:extLst>
          </p:cNvPr>
          <p:cNvSpPr txBox="1">
            <a:spLocks/>
          </p:cNvSpPr>
          <p:nvPr/>
        </p:nvSpPr>
        <p:spPr>
          <a:xfrm>
            <a:off x="1071990" y="2971800"/>
            <a:ext cx="7689353" cy="1752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o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–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14350" indent="-285750">
              <a:buSzPct val="117000"/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Feature engineering</a:t>
            </a:r>
          </a:p>
          <a:p>
            <a:pPr marL="971550" lvl="1" indent="-285750">
              <a:buSzPct val="117000"/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Create new features by combining existing ones</a:t>
            </a:r>
          </a:p>
          <a:p>
            <a:pPr marL="971550" lvl="1" indent="-285750">
              <a:buSzPct val="117000"/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Calculate features from existing features</a:t>
            </a:r>
          </a:p>
          <a:p>
            <a:pPr marL="514350" indent="-285750">
              <a:buSzPct val="117000"/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Pre-process clinical data</a:t>
            </a:r>
          </a:p>
          <a:p>
            <a:pPr marL="971550" lvl="1" indent="-285750">
              <a:buSzPct val="117000"/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Impute missing numerical and categorical data</a:t>
            </a:r>
          </a:p>
          <a:p>
            <a:pPr marL="971550" lvl="1" indent="-285750">
              <a:buSzPct val="117000"/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Encode categorical data into numerical data</a:t>
            </a:r>
          </a:p>
          <a:p>
            <a:pPr marL="971550" lvl="1" indent="-285750">
              <a:buSzPct val="117000"/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Scale data to have mean 0 and standard deviation of 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A1169B-64E9-4BC6-EFAE-DCB0258C7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380" y="1094887"/>
            <a:ext cx="7003719" cy="1506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5301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5D8C0-8680-FCD2-0437-3F6956458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BDFC7-D8AF-2D3C-30FB-F7F4FF552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Architecture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690FB33-A235-FC09-8D7C-78CA16F3AA4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010400" y="4864099"/>
            <a:ext cx="2133600" cy="279401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9F3F955-4FA3-3960-052F-A6CF9D8BEC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9818" y="958736"/>
            <a:ext cx="4453807" cy="3226028"/>
          </a:xfrm>
          <a:prstGeom prst="rect">
            <a:avLst/>
          </a:prstGeom>
        </p:spPr>
      </p:pic>
      <p:sp>
        <p:nvSpPr>
          <p:cNvPr id="22" name="Title 1">
            <a:extLst>
              <a:ext uri="{FF2B5EF4-FFF2-40B4-BE49-F238E27FC236}">
                <a16:creationId xmlns:a16="http://schemas.microsoft.com/office/drawing/2014/main" id="{045E7B5A-11BF-87EC-47AF-8BC606585960}"/>
              </a:ext>
            </a:extLst>
          </p:cNvPr>
          <p:cNvSpPr txBox="1">
            <a:spLocks/>
          </p:cNvSpPr>
          <p:nvPr/>
        </p:nvSpPr>
        <p:spPr>
          <a:xfrm>
            <a:off x="3446175" y="4184764"/>
            <a:ext cx="2321092" cy="480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800" b="0" dirty="0"/>
              <a:t>Unimodal</a:t>
            </a:r>
          </a:p>
        </p:txBody>
      </p:sp>
    </p:spTree>
    <p:extLst>
      <p:ext uri="{BB962C8B-B14F-4D97-AF65-F5344CB8AC3E}">
        <p14:creationId xmlns:p14="http://schemas.microsoft.com/office/powerpoint/2010/main" val="31290321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25014-871F-D1C7-34FA-4A28C93A4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69F12-FEA4-2D73-80FB-F960EF002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Architecture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52BAF50-19A3-F550-7A8B-5B118995346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010400" y="4864099"/>
            <a:ext cx="2133600" cy="279401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8B6E4F6D-9249-3243-B06F-00382C8560F1}"/>
              </a:ext>
            </a:extLst>
          </p:cNvPr>
          <p:cNvSpPr txBox="1">
            <a:spLocks/>
          </p:cNvSpPr>
          <p:nvPr/>
        </p:nvSpPr>
        <p:spPr>
          <a:xfrm>
            <a:off x="3284436" y="4224008"/>
            <a:ext cx="2644572" cy="480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800" b="0" dirty="0"/>
              <a:t>Multimodal: Early Fusion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5C600BE-592F-0FC6-F5E7-7927FEDB4B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0" t="1138"/>
          <a:stretch>
            <a:fillRect/>
          </a:stretch>
        </p:blipFill>
        <p:spPr>
          <a:xfrm>
            <a:off x="2686050" y="919491"/>
            <a:ext cx="3771900" cy="3304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5405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53BAA-8748-B21A-4B13-5FD28586C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0A0F9-FB18-AA06-5102-97D7D9F84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Architecture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F0C77BA-CECE-12F7-CF0E-F02245B2688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010400" y="4852744"/>
            <a:ext cx="2133600" cy="279401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96FED5D9-AAEE-E8E6-FA7D-9481B6BAB193}"/>
              </a:ext>
            </a:extLst>
          </p:cNvPr>
          <p:cNvSpPr txBox="1">
            <a:spLocks/>
          </p:cNvSpPr>
          <p:nvPr/>
        </p:nvSpPr>
        <p:spPr>
          <a:xfrm>
            <a:off x="3317109" y="4206449"/>
            <a:ext cx="2579226" cy="480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800" b="0" dirty="0"/>
              <a:t>Multimodal: Late Fusion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07387F-6CEA-67F7-129F-A1865677FE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27" t="1674"/>
          <a:stretch>
            <a:fillRect/>
          </a:stretch>
        </p:blipFill>
        <p:spPr>
          <a:xfrm>
            <a:off x="2321601" y="937050"/>
            <a:ext cx="4500797" cy="3269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8904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8CF73-EBDF-B275-E172-D0FA963A0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78D3A-507D-D921-7704-40E1EBAAC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1D7634-F6D6-DB3B-878B-3C065364EB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Train machine learning models to predict risk of developing lung cancer within one year</a:t>
            </a:r>
          </a:p>
          <a:p>
            <a:pPr marL="971550" lvl="1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Train and evaluate on NLST dataset</a:t>
            </a:r>
          </a:p>
          <a:p>
            <a:pPr marL="971550" lvl="1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Evaluate on UCLA dataset </a:t>
            </a:r>
          </a:p>
          <a:p>
            <a:pPr marL="971550" lvl="1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Use AUROC and AUPRC as performance metrics</a:t>
            </a:r>
          </a:p>
          <a:p>
            <a:pPr marL="514350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Compare three combinations of features: </a:t>
            </a:r>
          </a:p>
          <a:p>
            <a:pPr marL="971550" lvl="1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Only PLCO clinical features</a:t>
            </a:r>
          </a:p>
          <a:p>
            <a:pPr marL="971550" lvl="1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Only extracted imaging features</a:t>
            </a:r>
          </a:p>
          <a:p>
            <a:pPr marL="971550" lvl="1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PLCO clinical and extracted imaging features together</a:t>
            </a:r>
          </a:p>
          <a:p>
            <a:pPr marL="1885950" lvl="3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Early Fusion</a:t>
            </a:r>
          </a:p>
          <a:p>
            <a:pPr marL="1885950" lvl="3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Late Fusion		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298056-A62C-DDED-C187-17A95ED372F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010400" y="4864099"/>
            <a:ext cx="2133600" cy="279401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0688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51B5B30-EE29-6DDB-9BBA-8B7CFD7F9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34963" y="759743"/>
            <a:ext cx="4067074" cy="4073876"/>
          </a:xfrm>
        </p:spPr>
        <p:txBody>
          <a:bodyPr>
            <a:normAutofit/>
          </a:bodyPr>
          <a:lstStyle/>
          <a:p>
            <a:pPr marL="228600" indent="0" algn="ctr"/>
            <a:r>
              <a:rPr lang="en-US" sz="2200" b="1" dirty="0"/>
              <a:t>Area Under the Precision-Recall Curve </a:t>
            </a:r>
          </a:p>
          <a:p>
            <a:pPr marL="228600" indent="0" algn="ctr"/>
            <a:r>
              <a:rPr lang="en-US" sz="2200" b="1" dirty="0"/>
              <a:t>(AUPRC)</a:t>
            </a:r>
          </a:p>
          <a:p>
            <a:pPr marL="228600" indent="0" algn="ctr"/>
            <a:endParaRPr lang="en-US" sz="1700" dirty="0"/>
          </a:p>
          <a:p>
            <a:pPr marL="571500" indent="-342900">
              <a:buFont typeface="Wingdings" panose="05000000000000000000" pitchFamily="2" charset="2"/>
              <a:buChar char="§"/>
            </a:pPr>
            <a:r>
              <a:rPr lang="en-US" sz="1800" dirty="0"/>
              <a:t>Plots: Precision vs. Recall </a:t>
            </a:r>
          </a:p>
          <a:p>
            <a:pPr marL="571500" indent="-342900">
              <a:buFont typeface="Wingdings" panose="05000000000000000000" pitchFamily="2" charset="2"/>
              <a:buChar char="§"/>
            </a:pPr>
            <a:r>
              <a:rPr lang="en-US" sz="1800" dirty="0"/>
              <a:t>The higher the AUPRC, the better the model is at capturing  true positives with fewer false positives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8E9F55-5B30-605D-73D9-EA33681C8F5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010400" y="4864099"/>
            <a:ext cx="2133600" cy="279401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A089C54-7D7A-015E-B49D-6A202A6A02BD}"/>
              </a:ext>
            </a:extLst>
          </p:cNvPr>
          <p:cNvSpPr txBox="1">
            <a:spLocks/>
          </p:cNvSpPr>
          <p:nvPr/>
        </p:nvSpPr>
        <p:spPr>
          <a:xfrm>
            <a:off x="457203" y="696244"/>
            <a:ext cx="4114797" cy="3975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19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619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o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619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–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619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»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200" b="1" dirty="0"/>
              <a:t>Area Under the Receiver</a:t>
            </a:r>
          </a:p>
          <a:p>
            <a:pPr algn="ctr"/>
            <a:r>
              <a:rPr lang="en-US" sz="2200" b="1" dirty="0"/>
              <a:t>Operating Characteristic</a:t>
            </a:r>
          </a:p>
          <a:p>
            <a:pPr algn="ctr"/>
            <a:r>
              <a:rPr lang="en-US" sz="2200" b="1" dirty="0"/>
              <a:t>Curve (AUROC)</a:t>
            </a:r>
          </a:p>
          <a:p>
            <a:pPr algn="ctr"/>
            <a:endParaRPr lang="en-US" sz="1700" dirty="0"/>
          </a:p>
          <a:p>
            <a:pPr marL="571500" indent="-342900">
              <a:buFont typeface="Wingdings" panose="05000000000000000000" pitchFamily="2" charset="2"/>
              <a:buChar char="§"/>
            </a:pPr>
            <a:r>
              <a:rPr lang="en-US" sz="1800" dirty="0"/>
              <a:t>Plots: True Positive Rate vs. False Positive Rate </a:t>
            </a:r>
          </a:p>
          <a:p>
            <a:pPr marL="571500" indent="-342900">
              <a:buFont typeface="Wingdings" panose="05000000000000000000" pitchFamily="2" charset="2"/>
              <a:buChar char="§"/>
            </a:pPr>
            <a:r>
              <a:rPr lang="en-US" sz="1800" dirty="0"/>
              <a:t>The higher the AUROC, the better the model is at distinguishing between the classes.</a:t>
            </a:r>
          </a:p>
        </p:txBody>
      </p:sp>
    </p:spTree>
    <p:extLst>
      <p:ext uri="{BB962C8B-B14F-4D97-AF65-F5344CB8AC3E}">
        <p14:creationId xmlns:p14="http://schemas.microsoft.com/office/powerpoint/2010/main" val="20309377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07781-2B2D-1A08-82A3-365A08727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8BCC94-F1A7-B579-81E0-501E62F4FBF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010400" y="4864099"/>
            <a:ext cx="2133600" cy="279401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BC441A5-2C3D-B097-343B-1D95C8C035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26" t="1693" r="1"/>
          <a:stretch>
            <a:fillRect/>
          </a:stretch>
        </p:blipFill>
        <p:spPr>
          <a:xfrm>
            <a:off x="1811964" y="256160"/>
            <a:ext cx="5589515" cy="463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3180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D392D-CD1C-B853-6E22-9FF83CEE7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76D99-83FC-E86B-4D75-4277EF2F8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626E7B-90A2-488E-E3C6-FD3AF8D53D7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010400" y="4864099"/>
            <a:ext cx="2133600" cy="279401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C6CC6E-A90B-C269-C1C7-2A105E9D67D5}"/>
              </a:ext>
            </a:extLst>
          </p:cNvPr>
          <p:cNvSpPr txBox="1"/>
          <p:nvPr/>
        </p:nvSpPr>
        <p:spPr>
          <a:xfrm>
            <a:off x="17233900" y="18595396"/>
            <a:ext cx="79816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ptos" panose="020B0004020202020204" pitchFamily="34" charset="0"/>
              </a:rPr>
              <a:t>Receiver Operating Characteristic (ROC) Curve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56B008-C7E3-A80B-AE50-BEDC3E34FC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82"/>
          <a:stretch>
            <a:fillRect/>
          </a:stretch>
        </p:blipFill>
        <p:spPr>
          <a:xfrm>
            <a:off x="307222" y="899756"/>
            <a:ext cx="4297661" cy="2563020"/>
          </a:xfrm>
          <a:prstGeom prst="rect">
            <a:avLst/>
          </a:prstGeom>
        </p:spPr>
      </p:pic>
      <p:pic>
        <p:nvPicPr>
          <p:cNvPr id="10" name="Picture 9" descr="A graph showing different colored lines&#10;&#10;AI-generated content may be incorrect.">
            <a:extLst>
              <a:ext uri="{FF2B5EF4-FFF2-40B4-BE49-F238E27FC236}">
                <a16:creationId xmlns:a16="http://schemas.microsoft.com/office/drawing/2014/main" id="{96E0DCB2-2ECB-749D-B4EE-1C0FD78637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88"/>
          <a:stretch>
            <a:fillRect/>
          </a:stretch>
        </p:blipFill>
        <p:spPr>
          <a:xfrm>
            <a:off x="4650907" y="854963"/>
            <a:ext cx="4359086" cy="265628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EB43749-B35E-E5D5-A094-756AC625B9C8}"/>
              </a:ext>
            </a:extLst>
          </p:cNvPr>
          <p:cNvSpPr txBox="1"/>
          <p:nvPr/>
        </p:nvSpPr>
        <p:spPr>
          <a:xfrm>
            <a:off x="307222" y="3596786"/>
            <a:ext cx="836981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285750">
              <a:buSzPct val="117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ROC and PR curves for the model that achieved the highest AUROC and AUPRC on the UCLA dataset, MLP</a:t>
            </a:r>
          </a:p>
          <a:p>
            <a:pPr marL="514350" indent="-285750">
              <a:buSzPct val="117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Early Fusion MLP using both imaging and clinical features scored an AUC of 0.962 and AUPRC of 0.580, the best performance between all models and combination of features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7938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8AA61-F9B2-8CDA-79BA-55F9B2DC7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07B6A-5CA6-A7AA-C239-A9B44449D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C25865-8076-8D19-6141-43D0DAF94C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285750">
              <a:buFont typeface="Wingdings" panose="05000000000000000000" pitchFamily="2" charset="2"/>
              <a:buChar char="§"/>
            </a:pPr>
            <a:r>
              <a:rPr lang="en-US" sz="1800" dirty="0"/>
              <a:t>Clinical features alone were weak predictors</a:t>
            </a:r>
          </a:p>
          <a:p>
            <a:pPr marL="971550" lvl="1" indent="-285750">
              <a:buFont typeface="Wingdings" panose="05000000000000000000" pitchFamily="2" charset="2"/>
              <a:buChar char="§"/>
            </a:pPr>
            <a:r>
              <a:rPr lang="fr-FR" sz="1800" dirty="0"/>
              <a:t>Best AUROC 0.72, AUPRC 0.26</a:t>
            </a:r>
            <a:endParaRPr lang="en-US" sz="1800" dirty="0"/>
          </a:p>
          <a:p>
            <a:pPr marL="514350" indent="-285750">
              <a:buFont typeface="Wingdings" panose="05000000000000000000" pitchFamily="2" charset="2"/>
              <a:buChar char="§"/>
            </a:pPr>
            <a:r>
              <a:rPr lang="en-US" sz="1800" dirty="0"/>
              <a:t>Imaging features alone were stronger predictors</a:t>
            </a:r>
          </a:p>
          <a:p>
            <a:pPr marL="971550" lvl="1" indent="-285750">
              <a:buFont typeface="Wingdings" panose="05000000000000000000" pitchFamily="2" charset="2"/>
              <a:buChar char="§"/>
            </a:pPr>
            <a:r>
              <a:rPr lang="fr-FR" sz="1800" dirty="0"/>
              <a:t>Best AUROC 0.93, AUPRC 0.48</a:t>
            </a:r>
            <a:endParaRPr lang="en-US" sz="1800" dirty="0"/>
          </a:p>
          <a:p>
            <a:pPr marL="514350" indent="-285750">
              <a:buFont typeface="Wingdings" panose="05000000000000000000" pitchFamily="2" charset="2"/>
              <a:buChar char="§"/>
            </a:pPr>
            <a:r>
              <a:rPr lang="en-US" sz="1800" dirty="0"/>
              <a:t>Multimodal (clinical + imaging) performed best</a:t>
            </a:r>
          </a:p>
          <a:p>
            <a:pPr marL="971550" lvl="1" indent="-285750">
              <a:buFont typeface="Wingdings" panose="05000000000000000000" pitchFamily="2" charset="2"/>
              <a:buChar char="§"/>
            </a:pPr>
            <a:r>
              <a:rPr lang="en-US" sz="1800" dirty="0"/>
              <a:t>Early Fusion outperformed Late Fusion </a:t>
            </a:r>
          </a:p>
          <a:p>
            <a:pPr marL="971550" lvl="1" indent="-285750">
              <a:buFont typeface="Wingdings" panose="05000000000000000000" pitchFamily="2" charset="2"/>
              <a:buChar char="§"/>
            </a:pPr>
            <a:r>
              <a:rPr lang="en-US" sz="1800" dirty="0"/>
              <a:t>Early Fusion MLP achieved the best results </a:t>
            </a:r>
          </a:p>
          <a:p>
            <a:pPr marL="1428750" lvl="2" indent="-285750">
              <a:buFont typeface="Wingdings" panose="05000000000000000000" pitchFamily="2" charset="2"/>
              <a:buChar char="§"/>
            </a:pPr>
            <a:r>
              <a:rPr lang="en-US" sz="1800" dirty="0"/>
              <a:t>AUROC 0.96, AUPRC 0.58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A7C332-2423-525A-49DB-3D7F9BDC81D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010400" y="4864099"/>
            <a:ext cx="2133600" cy="279401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5363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8BF8F-B426-D9BC-85C7-5FED067F9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and Languages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7C10DC-9028-AD63-D146-6B1DB8D1FED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010400" y="4864099"/>
            <a:ext cx="2133600" cy="279401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/>
          </a:p>
        </p:txBody>
      </p:sp>
      <p:pic>
        <p:nvPicPr>
          <p:cNvPr id="2060" name="Picture 12" descr="IT12A01: FUNDAMENTALS OF PYTHON PROGRAMMING (SF) - NTUC LearningHub">
            <a:extLst>
              <a:ext uri="{FF2B5EF4-FFF2-40B4-BE49-F238E27FC236}">
                <a16:creationId xmlns:a16="http://schemas.microsoft.com/office/drawing/2014/main" id="{1A88D61C-8F7E-79CD-7824-DACE049FEC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940" y="1233740"/>
            <a:ext cx="2567836" cy="1444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DA6DEBB9-DD97-F503-98A6-22D644C03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5086" y="2800412"/>
            <a:ext cx="3008175" cy="1504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undefined">
            <a:extLst>
              <a:ext uri="{FF2B5EF4-FFF2-40B4-BE49-F238E27FC236}">
                <a16:creationId xmlns:a16="http://schemas.microsoft.com/office/drawing/2014/main" id="{7EDA3D28-508C-E074-DE5F-3EEA7AFB75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6453" y="2948454"/>
            <a:ext cx="2238766" cy="1208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0">
            <a:extLst>
              <a:ext uri="{FF2B5EF4-FFF2-40B4-BE49-F238E27FC236}">
                <a16:creationId xmlns:a16="http://schemas.microsoft.com/office/drawing/2014/main" id="{31B8F5E3-AD73-EAE9-6A13-0955D20250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7342" y="1203788"/>
            <a:ext cx="1026008" cy="1011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ACB12A7-D9A5-C00F-641A-57A036EB2898}"/>
              </a:ext>
            </a:extLst>
          </p:cNvPr>
          <p:cNvSpPr txBox="1"/>
          <p:nvPr/>
        </p:nvSpPr>
        <p:spPr>
          <a:xfrm>
            <a:off x="4119979" y="2183806"/>
            <a:ext cx="1240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Pydicom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2E5335-5735-B66F-9AD7-A86912DE99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0290" y="1233740"/>
            <a:ext cx="945209" cy="9510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3A16F50-FD5E-6C67-85CE-C1B3B88EA08B}"/>
              </a:ext>
            </a:extLst>
          </p:cNvPr>
          <p:cNvSpPr txBox="1"/>
          <p:nvPr/>
        </p:nvSpPr>
        <p:spPr>
          <a:xfrm>
            <a:off x="6244288" y="2182796"/>
            <a:ext cx="1597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3DimViewer</a:t>
            </a:r>
          </a:p>
        </p:txBody>
      </p:sp>
    </p:spTree>
    <p:extLst>
      <p:ext uri="{BB962C8B-B14F-4D97-AF65-F5344CB8AC3E}">
        <p14:creationId xmlns:p14="http://schemas.microsoft.com/office/powerpoint/2010/main" val="13612572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6C972-818D-9CE0-50D5-B71E57281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2D3B2-F8B8-9416-78DB-DA8CC5937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FE3E5F-E299-2966-BECA-5ECB0B7514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514350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The goal was to combine imaging features and clinical features to enhance one year lung cancer risk prediction</a:t>
            </a:r>
          </a:p>
          <a:p>
            <a:pPr marL="514350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Best performing model was MLP trained on both clinical and imaging features using an early fusion approach</a:t>
            </a:r>
          </a:p>
          <a:p>
            <a:pPr marL="514350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Multimodal models generally performed better than unimodal models</a:t>
            </a:r>
          </a:p>
          <a:p>
            <a:pPr marL="514350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Results suggest models utilizing both clinical and imaging features may achieve higher AUROC and AUPRC values compared to models using only one type of feature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EB9142-F538-62C8-B2F6-68B636E904E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010400" y="4864099"/>
            <a:ext cx="2133600" cy="279401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1567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E1917-3F8C-1B5F-D4B9-085886437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0A253-C92D-4F81-A237-F040FF2D1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5D93A3-9C95-C5F1-A55F-EAC7223336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514350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Incorporate a more robust set of clinical features to enhance model performance</a:t>
            </a:r>
          </a:p>
          <a:p>
            <a:pPr marL="514350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Develop more effective methods of combining clinical and imaging data</a:t>
            </a:r>
          </a:p>
          <a:p>
            <a:pPr marL="971550" lvl="1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Embedding based fusion</a:t>
            </a:r>
          </a:p>
          <a:p>
            <a:pPr marL="971550" lvl="1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Intermediate Fusion with Attention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3D96DE-1A0A-ECAD-3583-346F5A319EF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010400" y="4864099"/>
            <a:ext cx="2133600" cy="279401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7044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9A5ED-931B-3858-8922-030600DDD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96B70E-9940-E7A8-902D-79A2D5F760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sz="1050" dirty="0">
                <a:latin typeface="+mn-lt"/>
                <a:cs typeface="Arial" panose="020B0604020202020204" pitchFamily="34" charset="0"/>
              </a:rPr>
              <a:t>[1] </a:t>
            </a:r>
            <a:r>
              <a:rPr lang="en-US" sz="1050" dirty="0" err="1">
                <a:latin typeface="+mn-lt"/>
                <a:cs typeface="Arial" panose="020B0604020202020204" pitchFamily="34" charset="0"/>
              </a:rPr>
              <a:t>Tammemägi</a:t>
            </a:r>
            <a:r>
              <a:rPr lang="en-US" sz="1050" dirty="0">
                <a:latin typeface="+mn-lt"/>
                <a:cs typeface="Arial" panose="020B0604020202020204" pitchFamily="34" charset="0"/>
              </a:rPr>
              <a:t>, Martin C., et al. “Selection Criteria for Lung-Cancer Screening.” New England Journal of Medicine, vol. 368, no. 8, 21 Feb. 2013, pp. 728–736, www.nejm.org/doi/full/10.1056/NEJMoa1211776, https://doi.org/10.1056/nejmoa1211776.</a:t>
            </a:r>
          </a:p>
          <a:p>
            <a:r>
              <a:rPr lang="en-US" sz="1050" dirty="0">
                <a:latin typeface="+mn-lt"/>
                <a:cs typeface="Arial" panose="020B0604020202020204" pitchFamily="34" charset="0"/>
              </a:rPr>
              <a:t>[2] </a:t>
            </a:r>
            <a:r>
              <a:rPr lang="en-US" sz="105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Mikhael PG, Wohlwend J, </a:t>
            </a:r>
            <a:r>
              <a:rPr lang="en-US" sz="1050" dirty="0" err="1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Yala</a:t>
            </a:r>
            <a:r>
              <a:rPr lang="en-US" sz="105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 A, Karstens L, Xiang J, </a:t>
            </a:r>
            <a:r>
              <a:rPr lang="en-US" sz="1050" dirty="0" err="1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Takigami</a:t>
            </a:r>
            <a:r>
              <a:rPr lang="en-US" sz="105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 AK, </a:t>
            </a:r>
            <a:r>
              <a:rPr lang="en-US" sz="1050" dirty="0" err="1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Bourgouin</a:t>
            </a:r>
            <a:r>
              <a:rPr lang="en-US" sz="105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 PP, Chan P, </a:t>
            </a:r>
            <a:r>
              <a:rPr lang="en-US" sz="1050" dirty="0" err="1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Mrah</a:t>
            </a:r>
            <a:r>
              <a:rPr lang="en-US" sz="105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 S, </a:t>
            </a:r>
            <a:r>
              <a:rPr lang="en-US" sz="1050" dirty="0" err="1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Amayri</a:t>
            </a:r>
            <a:r>
              <a:rPr lang="en-US" sz="105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 W, Juan YH. Sybil: a validated deep learning model to predict future lung cancer risk from a single low-dose chest computed tomography. Journal of Clinical Oncology. 2023 Apr 20;41(12):2191-200.</a:t>
            </a:r>
          </a:p>
          <a:p>
            <a:r>
              <a:rPr lang="en-US" sz="105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[3] </a:t>
            </a:r>
            <a:r>
              <a:rPr lang="en-US" sz="1050" dirty="0" err="1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Suganyadevi</a:t>
            </a:r>
            <a:r>
              <a:rPr lang="en-US" sz="105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, S., et al. “A review on deep learning in medical image analysis.” International Journal of Multimedia Information Retrieval, vol. 11, no. 1, 4 Sept. 2021, pp. 19–38, https://doi.org/10.1007/s13735-021-00218-1. </a:t>
            </a:r>
          </a:p>
          <a:p>
            <a:r>
              <a:rPr lang="en-US" sz="105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[4] Boehm, Kevin M., et al. “Harnessing Multimodal Data Integration to advance precision oncology.” Nature Reviews Cancer, vol. 22, no. 2, 18 Oct. 2021, pp. 114–126, https://doi.org/10.1038/s41568-021-00408-3. </a:t>
            </a:r>
          </a:p>
          <a:p>
            <a:r>
              <a:rPr lang="en-US" sz="105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[5] Prosper, Ashley Elizabeth, et al. “Expanding role of advanced image analysis in </a:t>
            </a:r>
            <a:r>
              <a:rPr lang="en-US" sz="1050" dirty="0" err="1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ct</a:t>
            </a:r>
            <a:r>
              <a:rPr lang="en-US" sz="105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-detected indeterminate pulmonary nodules and early lung cancer characterization.” Radiology, vol. 309, no. 1, 1 Oct. 2023, https://doi.org/10.1148/radiol.222904. </a:t>
            </a:r>
          </a:p>
          <a:p>
            <a:r>
              <a:rPr lang="en-US" sz="1050" dirty="0">
                <a:cs typeface="Arial" panose="020B0604020202020204" pitchFamily="34" charset="0"/>
              </a:rPr>
              <a:t>[6] R. Siegel, E. Ward, O. Brawley, A. Jemal, Cancer statistics, 2011, CA A Cancer </a:t>
            </a:r>
            <a:r>
              <a:rPr lang="en-US" sz="1050" dirty="0" err="1">
                <a:cs typeface="Arial" panose="020B0604020202020204" pitchFamily="34" charset="0"/>
              </a:rPr>
              <a:t>J.Clin</a:t>
            </a:r>
            <a:r>
              <a:rPr lang="en-US" sz="1050" dirty="0">
                <a:cs typeface="Arial" panose="020B0604020202020204" pitchFamily="34" charset="0"/>
              </a:rPr>
              <a:t>. 61 (4) (Jul. 2011) 212–236, https://doi.org/10.3322/caac.20121.</a:t>
            </a:r>
          </a:p>
          <a:p>
            <a:r>
              <a:rPr lang="en-US" sz="105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[7] Ding, R., Yadav, A., Rodriguez, E., Da Silva, A. C. a. L., &amp; Hsu, W. (n.d.). Tailoring pretext tasks to improve self-supervised learning in histopathologic subtype classification of lung adenocarcinomas. Computers in Biology and Medicine, 166, 107484. https://doi.org/10.1016/j.compbiomed.2023.107484.</a:t>
            </a:r>
          </a:p>
          <a:p>
            <a:r>
              <a:rPr lang="en-US" sz="105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[8] Gandhi, Zainab, et al. “Artificial Intelligence and lung cancer: Impact on improving patient outcomes.” Cancers, vol. 15, no. 21, 31 Oct. 2023, p. 5236, https://doi.org/10.3390/cancers15215236. </a:t>
            </a:r>
          </a:p>
          <a:p>
            <a:endParaRPr lang="en-US" sz="1050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CF93786C-F77F-8848-B152-167B97E3981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010400" y="4852744"/>
            <a:ext cx="2133600" cy="279401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80132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8D049-DF8F-E554-E5F2-48436D6E7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686" y="2143124"/>
            <a:ext cx="8140628" cy="857251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Thank you.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7E8A7E-8194-A233-7EDA-B89F1848DE7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010400" y="4864099"/>
            <a:ext cx="2133600" cy="279401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516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02e77e4-c850-4a3c-b36c-2344e64105e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D0E5011A30A9E4BB46DBE54C0DB0716" ma:contentTypeVersion="17" ma:contentTypeDescription="Create a new document." ma:contentTypeScope="" ma:versionID="6ad08b727eae20debadbee0dfe9dd677">
  <xsd:schema xmlns:xsd="http://www.w3.org/2001/XMLSchema" xmlns:xs="http://www.w3.org/2001/XMLSchema" xmlns:p="http://schemas.microsoft.com/office/2006/metadata/properties" xmlns:ns3="f02e77e4-c850-4a3c-b36c-2344e64105e0" xmlns:ns4="61170678-83b1-49ad-8803-5bc6efada42a" targetNamespace="http://schemas.microsoft.com/office/2006/metadata/properties" ma:root="true" ma:fieldsID="832e742bf7a94e50f834fecf956ccced" ns3:_="" ns4:_="">
    <xsd:import namespace="f02e77e4-c850-4a3c-b36c-2344e64105e0"/>
    <xsd:import namespace="61170678-83b1-49ad-8803-5bc6efada42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2e77e4-c850-4a3c-b36c-2344e64105e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170678-83b1-49ad-8803-5bc6efada42a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B21B409-0C4E-40D2-AFBA-7D846014C7C8}">
  <ds:schemaRefs>
    <ds:schemaRef ds:uri="http://schemas.openxmlformats.org/package/2006/metadata/core-properties"/>
    <ds:schemaRef ds:uri="http://purl.org/dc/dcmitype/"/>
    <ds:schemaRef ds:uri="http://purl.org/dc/terms/"/>
    <ds:schemaRef ds:uri="f02e77e4-c850-4a3c-b36c-2344e64105e0"/>
    <ds:schemaRef ds:uri="http://schemas.microsoft.com/office/2006/documentManagement/types"/>
    <ds:schemaRef ds:uri="http://purl.org/dc/elements/1.1/"/>
    <ds:schemaRef ds:uri="61170678-83b1-49ad-8803-5bc6efada42a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5127BEE-B149-4B03-8320-0A5E9F96D17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02e77e4-c850-4a3c-b36c-2344e64105e0"/>
    <ds:schemaRef ds:uri="61170678-83b1-49ad-8803-5bc6efada42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471A928-30CA-4AE7-9033-71D1AC775F2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ce8a2002-448f-4f58-82b1-d86f73e3afdd}" enabled="0" method="" siteId="{ce8a2002-448f-4f58-82b1-d86f73e3afd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17554</TotalTime>
  <Words>1320</Words>
  <Application>Microsoft Office PowerPoint</Application>
  <PresentationFormat>On-screen Show (16:9)</PresentationFormat>
  <Paragraphs>163</Paragraphs>
  <Slides>26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Wingdings</vt:lpstr>
      <vt:lpstr>Aptos</vt:lpstr>
      <vt:lpstr>Calibri</vt:lpstr>
      <vt:lpstr>Lexend Light</vt:lpstr>
      <vt:lpstr>Arial</vt:lpstr>
      <vt:lpstr>Lexend</vt:lpstr>
      <vt:lpstr>Office Theme</vt:lpstr>
      <vt:lpstr>Integration of Imaging Features and Clinical Features for Early Detection of Lung Cancer</vt:lpstr>
      <vt:lpstr>Agenda</vt:lpstr>
      <vt:lpstr>Background</vt:lpstr>
      <vt:lpstr>Lung Cancer Risk Prediction Models </vt:lpstr>
      <vt:lpstr>PLCOm2012 Model</vt:lpstr>
      <vt:lpstr>Sybil</vt:lpstr>
      <vt:lpstr>Project Objectives</vt:lpstr>
      <vt:lpstr>Datasets</vt:lpstr>
      <vt:lpstr>Data: CT Scans</vt:lpstr>
      <vt:lpstr>Data: DICOM</vt:lpstr>
      <vt:lpstr>Image Selection</vt:lpstr>
      <vt:lpstr>Feature Extraction</vt:lpstr>
      <vt:lpstr>Feature Extraction</vt:lpstr>
      <vt:lpstr>Model Architecture</vt:lpstr>
      <vt:lpstr>Model Architecture</vt:lpstr>
      <vt:lpstr>Model Architecture</vt:lpstr>
      <vt:lpstr>Methods</vt:lpstr>
      <vt:lpstr>PowerPoint Presentation</vt:lpstr>
      <vt:lpstr>Results</vt:lpstr>
      <vt:lpstr>Results</vt:lpstr>
      <vt:lpstr>Results</vt:lpstr>
      <vt:lpstr>Tools and Languages</vt:lpstr>
      <vt:lpstr>Conclusion</vt:lpstr>
      <vt:lpstr>Future Work</vt:lpstr>
      <vt:lpstr>References</vt:lpstr>
      <vt:lpstr>Thank you.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 Based GABA Edited-MRS  Signal Reconstruction</dc:title>
  <dc:creator>Leonard Garcia</dc:creator>
  <cp:lastModifiedBy>Garcia, Leonard</cp:lastModifiedBy>
  <cp:revision>91</cp:revision>
  <cp:lastPrinted>2025-08-18T00:52:52Z</cp:lastPrinted>
  <dcterms:modified xsi:type="dcterms:W3CDTF">2025-08-18T01:01:35Z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0x0101009D0E5011A30A9E4BB46DBE54C0DB0716</vt:lpwstr>
  </property>
</Properties>
</file>